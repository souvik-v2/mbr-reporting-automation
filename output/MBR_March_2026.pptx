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90" r:id="rId5"/>
  </p:sldMasterIdLst>
  <p:notesMasterIdLst>
    <p:notesMasterId r:id="rId20"/>
  </p:notesMasterIdLst>
  <p:handoutMasterIdLst>
    <p:handoutMasterId r:id="rId21"/>
  </p:handoutMasterIdLst>
  <p:sldIdLst>
    <p:sldId id="1189" r:id="rId6"/>
    <p:sldId id="3472" r:id="rId7"/>
    <p:sldId id="3455" r:id="rId8"/>
    <p:sldId id="3476" r:id="rId9"/>
    <p:sldId id="3478" r:id="rId10"/>
    <p:sldId id="3448" r:id="rId11"/>
    <p:sldId id="3480" r:id="rId28"/>
    <p:sldId id="3481" r:id="rId29"/>
    <p:sldId id="3482" r:id="rId30"/>
    <p:sldId id="3464" r:id="rId12"/>
    <p:sldId id="3475" r:id="rId13"/>
    <p:sldId id="3479" r:id="rId14"/>
    <p:sldId id="3468" r:id="rId15"/>
    <p:sldId id="3470" r:id="rId16"/>
    <p:sldId id="3467" r:id="rId17"/>
    <p:sldId id="3471" r:id="rId18"/>
    <p:sldId id="119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EB7874-2683-BA1C-5238-4068B3613917}" name="Rajesh BR" initials="" userId="S::rajesh.br@v2solutions.com::0c806c30-4607-4b24-8bbb-197ff9a75f64" providerId="AD"/>
  <p188:author id="{D093AE79-F25A-4F65-956D-AF7B24D7BF8D}" name="Kanhai Jhaveri" initials="KJ" userId="S::kanhai.jhaveri@v2solutions.com::e2ea0c53-18ae-46fa-ba07-dec8b8faf09d" providerId="AD"/>
  <p188:author id="{E0D60DB8-CCBC-DF8F-5CC4-DD640A0E8114}" name="Sachin Kalra" initials="SK" userId="S::sachin.kalra@v2solutions.com::f66c4a14-8963-4626-9f61-c07b7a57d95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5933"/>
    <a:srgbClr val="2E81C1"/>
    <a:srgbClr val="2D81C1"/>
    <a:srgbClr val="44A8E1"/>
    <a:srgbClr val="E8E7E3"/>
    <a:srgbClr val="26A8E0"/>
    <a:srgbClr val="E55732"/>
    <a:srgbClr val="E65832"/>
    <a:srgbClr val="494342"/>
    <a:srgbClr val="D87C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9" autoAdjust="0"/>
    <p:restoredTop sz="91817" autoAdjust="0"/>
  </p:normalViewPr>
  <p:slideViewPr>
    <p:cSldViewPr snapToGrid="0">
      <p:cViewPr varScale="1">
        <p:scale>
          <a:sx n="98" d="100"/>
          <a:sy n="98" d="100"/>
        </p:scale>
        <p:origin x="516" y="7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8/10/relationships/authors" Target="authors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preet Singh" userId="S::harpreet.singh@v2solutions.com::8c1032cd-1341-4726-b08c-07d40215a71d" providerId="AD" clId="Web-{DCF2A1C2-2F53-40DC-A428-62851B913467}"/>
    <pc:docChg chg="mod">
      <pc:chgData name="Harpreet Singh" userId="S::harpreet.singh@v2solutions.com::8c1032cd-1341-4726-b08c-07d40215a71d" providerId="AD" clId="Web-{DCF2A1C2-2F53-40DC-A428-62851B913467}" dt="2026-06-09T17:36:55.260" v="0" actId="33475"/>
      <pc:docMkLst>
        <pc:docMk/>
      </pc:docMkLst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4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2025: LCW 10/01 -10/31</c:v>
                </c:pt>
                <c:pt idx="1">
                  <c:v>2025: LCW 11/01 - 11/30</c:v>
                </c:pt>
                <c:pt idx="2">
                  <c:v>2025: LCW 12/01- 12/31</c:v>
                </c:pt>
                <c:pt idx="3">
                  <c:v>2026: LCW 01/01 - 01/31</c:v>
                </c:pt>
                <c:pt idx="4">
                  <c:v>2026: LCW 02/01 - 02/28</c:v>
                </c:pt>
                <c:pt idx="5">
                  <c:v>2026: LCW 03/01 - 03/31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24-466C-BAFD-F918ED20E1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2025: LCW 10/01 -10/31</c:v>
                </c:pt>
                <c:pt idx="1">
                  <c:v>2025: LCW 11/01 - 11/30</c:v>
                </c:pt>
                <c:pt idx="2">
                  <c:v>2025: LCW 12/01- 12/31</c:v>
                </c:pt>
                <c:pt idx="3">
                  <c:v>2026: LCW 01/01 - 01/31</c:v>
                </c:pt>
                <c:pt idx="4">
                  <c:v>2026: LCW 02/01 - 02/28</c:v>
                </c:pt>
                <c:pt idx="5">
                  <c:v>2026: LCW 03/01 - 03/31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3.0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24-466C-BAFD-F918ED20E1C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89644431"/>
        <c:axId val="1162287007"/>
      </c:lineChart>
      <c:catAx>
        <c:axId val="138964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2287007"/>
        <c:crosses val="autoZero"/>
        <c:auto val="1"/>
        <c:lblAlgn val="ctr"/>
        <c:lblOffset val="100"/>
        <c:noMultiLvlLbl val="0"/>
      </c:catAx>
      <c:valAx>
        <c:axId val="1162287007"/>
        <c:scaling>
          <c:orientation val="minMax"/>
          <c:max val="1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89644431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baseline="0">
                <a:effectLst/>
              </a:rPr>
              <a:t>Throughput Distribution</a:t>
            </a:r>
            <a:endParaRPr lang="en-US" sz="1000">
              <a:effectLst/>
            </a:endParaRPr>
          </a:p>
        </c:rich>
      </c:tx>
      <c:layout>
        <c:manualLayout>
          <c:xMode val="edge"/>
          <c:yMode val="edge"/>
          <c:x val="0.35687993273438184"/>
          <c:y val="4.94821182483200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2025: LCW 10/01 -10/31</c:v>
                </c:pt>
                <c:pt idx="1">
                  <c:v>2025: LCW 11/01 - 11/30</c:v>
                </c:pt>
                <c:pt idx="2">
                  <c:v>2025: LCW 12/01- 12/31</c:v>
                </c:pt>
                <c:pt idx="3">
                  <c:v>2026: LCW 01/01 - 01/31</c:v>
                </c:pt>
                <c:pt idx="4">
                  <c:v>2026: LCW 02/01 - 02/28</c:v>
                </c:pt>
                <c:pt idx="5">
                  <c:v>2026: LCW 03/01 - 03/31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34.0</c:v>
                </c:pt>
                <c:pt idx="1">
                  <c:v>28.0</c:v>
                </c:pt>
                <c:pt idx="2">
                  <c:v>20.0</c:v>
                </c:pt>
                <c:pt idx="3">
                  <c:v>24.0</c:v>
                </c:pt>
                <c:pt idx="4">
                  <c:v>22.0</c:v>
                </c:pt>
                <c:pt idx="5">
                  <c:v>17.0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AA-4F4E-842C-FBAEB0DB4E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2025: LCW 10/01 -10/31</c:v>
                </c:pt>
                <c:pt idx="1">
                  <c:v>2025: LCW 11/01 - 11/30</c:v>
                </c:pt>
                <c:pt idx="2">
                  <c:v>2025: LCW 12/01- 12/31</c:v>
                </c:pt>
                <c:pt idx="3">
                  <c:v>2026: LCW 01/01 - 01/31</c:v>
                </c:pt>
                <c:pt idx="4">
                  <c:v>2026: LCW 02/01 - 02/28</c:v>
                </c:pt>
                <c:pt idx="5">
                  <c:v>2026: LCW 03/01 - 03/31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90.0</c:v>
                </c:pt>
                <c:pt idx="1">
                  <c:v>104.0</c:v>
                </c:pt>
                <c:pt idx="2">
                  <c:v>103.0</c:v>
                </c:pt>
                <c:pt idx="3">
                  <c:v>114.0</c:v>
                </c:pt>
                <c:pt idx="4">
                  <c:v>113.0</c:v>
                </c:pt>
                <c:pt idx="5">
                  <c:v>93.0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AA-4F4E-842C-FBAEB0DB4E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8588528"/>
        <c:axId val="610544976"/>
      </c:barChart>
      <c:catAx>
        <c:axId val="61858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44976"/>
        <c:crosses val="autoZero"/>
        <c:auto val="1"/>
        <c:lblAlgn val="ctr"/>
        <c:lblOffset val="100"/>
        <c:noMultiLvlLbl val="0"/>
      </c:catAx>
      <c:valAx>
        <c:axId val="61054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8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baseline="0">
                <a:effectLst/>
              </a:rPr>
              <a:t>Throughput Distribution</a:t>
            </a:r>
            <a:endParaRPr lang="en-US" sz="1000">
              <a:effectLst/>
            </a:endParaRPr>
          </a:p>
        </c:rich>
      </c:tx>
      <c:layout>
        <c:manualLayout>
          <c:xMode val="edge"/>
          <c:yMode val="edge"/>
          <c:x val="0.32349696926804905"/>
          <c:y val="4.9482060084202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alpha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CET 03/24 - 04/07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0-4483-8E57-E2A7F4A198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CET 03/24 - 04/07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90-4483-8E57-E2A7F4A198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8588528"/>
        <c:axId val="610544976"/>
      </c:barChart>
      <c:catAx>
        <c:axId val="61858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44976"/>
        <c:crosses val="autoZero"/>
        <c:auto val="1"/>
        <c:lblAlgn val="ctr"/>
        <c:lblOffset val="100"/>
        <c:noMultiLvlLbl val="0"/>
      </c:catAx>
      <c:valAx>
        <c:axId val="61054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8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CET 03/24 - 04/07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7A-4A0C-AC76-DB1FE96627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CET 03/24 - 04/07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7A-4A0C-AC76-DB1FE966275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  <c:max val="3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  <c:majorUnit val="4"/>
        <c:minorUnit val="2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</a:rPr>
              <a:t>Carryover</a:t>
            </a:r>
            <a:r>
              <a:rPr lang="en-IN" sz="1000"/>
              <a:t>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CET 03/24 - 04/07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21-46E3-99F5-FC7DA5D76A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CET 03/24 - 04/07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28.0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21-46E3-99F5-FC7DA5D76A8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  <c:max val="5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  <c:majorUnit val="10"/>
        <c:minorUnit val="5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baseline="0">
                <a:effectLst/>
              </a:rPr>
              <a:t>Throughput Distribution</a:t>
            </a:r>
            <a:endParaRPr lang="en-US" sz="1000">
              <a:effectLst/>
            </a:endParaRPr>
          </a:p>
        </c:rich>
      </c:tx>
      <c:layout>
        <c:manualLayout>
          <c:xMode val="edge"/>
          <c:yMode val="edge"/>
          <c:x val="0.32349696926804905"/>
          <c:y val="4.9482060084202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alpha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WPM 01/15 - 01/29</c:v>
                </c:pt>
                <c:pt idx="1">
                  <c:v>WPM 01/29 - 02/12</c:v>
                </c:pt>
                <c:pt idx="2">
                  <c:v>WPM 02/12 - 02/26</c:v>
                </c:pt>
                <c:pt idx="3">
                  <c:v>WPM 02/26 - 03/12</c:v>
                </c:pt>
                <c:pt idx="4">
                  <c:v>WPM 03/12 - 03/26</c:v>
                </c:pt>
                <c:pt idx="5">
                  <c:v>WPM 03/26 - 04/09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</c:v>
                </c:pt>
                <c:pt idx="1">
                  <c:v>7.0</c:v>
                </c:pt>
                <c:pt idx="2">
                  <c:v>6.0</c:v>
                </c:pt>
                <c:pt idx="3">
                  <c:v>6.0</c:v>
                </c:pt>
                <c:pt idx="4">
                  <c:v>15.0</c:v>
                </c:pt>
                <c:pt idx="5">
                  <c:v>8.0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3A-4B28-A453-CAF00BC95C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WPM 01/15 - 01/29</c:v>
                </c:pt>
                <c:pt idx="1">
                  <c:v>WPM 01/29 - 02/12</c:v>
                </c:pt>
                <c:pt idx="2">
                  <c:v>WPM 02/12 - 02/26</c:v>
                </c:pt>
                <c:pt idx="3">
                  <c:v>WPM 02/26 - 03/12</c:v>
                </c:pt>
                <c:pt idx="4">
                  <c:v>WPM 03/12 - 03/26</c:v>
                </c:pt>
                <c:pt idx="5">
                  <c:v>WPM 03/26 - 04/09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32.0</c:v>
                </c:pt>
                <c:pt idx="1">
                  <c:v>21.0</c:v>
                </c:pt>
                <c:pt idx="2">
                  <c:v>19.0</c:v>
                </c:pt>
                <c:pt idx="3">
                  <c:v>35.0</c:v>
                </c:pt>
                <c:pt idx="4">
                  <c:v>43.0</c:v>
                </c:pt>
                <c:pt idx="5">
                  <c:v>21.0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3A-4B28-A453-CAF00BC95C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8588528"/>
        <c:axId val="610544976"/>
      </c:barChart>
      <c:catAx>
        <c:axId val="61858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44976"/>
        <c:crosses val="autoZero"/>
        <c:auto val="1"/>
        <c:lblAlgn val="ctr"/>
        <c:lblOffset val="100"/>
        <c:noMultiLvlLbl val="0"/>
      </c:catAx>
      <c:valAx>
        <c:axId val="61054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8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WPM 01/15 - 01/29</c:v>
                </c:pt>
                <c:pt idx="1">
                  <c:v>WPM 01/29 - 02/12</c:v>
                </c:pt>
                <c:pt idx="2">
                  <c:v>WPM 02/12 - 02/26</c:v>
                </c:pt>
                <c:pt idx="3">
                  <c:v>WPM 02/26 - 03/12</c:v>
                </c:pt>
                <c:pt idx="4">
                  <c:v>WPM 03/12 - 03/26</c:v>
                </c:pt>
                <c:pt idx="5">
                  <c:v>WPM 03/26 - 04/09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15-45F0-A5A7-A59D19A63D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WPM 01/15 - 01/29</c:v>
                </c:pt>
                <c:pt idx="1">
                  <c:v>WPM 01/29 - 02/12</c:v>
                </c:pt>
                <c:pt idx="2">
                  <c:v>WPM 02/12 - 02/26</c:v>
                </c:pt>
                <c:pt idx="3">
                  <c:v>WPM 02/26 - 03/12</c:v>
                </c:pt>
                <c:pt idx="4">
                  <c:v>WPM 03/12 - 03/26</c:v>
                </c:pt>
                <c:pt idx="5">
                  <c:v>WPM 03/26 - 04/09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15-45F0-A5A7-A59D19A63D0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  <c:max val="3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  <c:majorUnit val="4"/>
        <c:minorUnit val="2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</a:rPr>
              <a:t>Carryover</a:t>
            </a:r>
            <a:r>
              <a:rPr lang="en-IN" sz="1000"/>
              <a:t>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WPM 01/15 - 01/29</c:v>
                </c:pt>
                <c:pt idx="1">
                  <c:v>WPM 01/29 - 02/12</c:v>
                </c:pt>
                <c:pt idx="2">
                  <c:v>WPM 02/12 - 02/26</c:v>
                </c:pt>
                <c:pt idx="3">
                  <c:v>WPM 02/26 - 03/12</c:v>
                </c:pt>
                <c:pt idx="4">
                  <c:v>WPM 03/12 - 03/26</c:v>
                </c:pt>
                <c:pt idx="5">
                  <c:v>WPM 03/26 - 04/09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C6-43CF-B264-B5F4771070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WPM 01/15 - 01/29</c:v>
                </c:pt>
                <c:pt idx="1">
                  <c:v>WPM 01/29 - 02/12</c:v>
                </c:pt>
                <c:pt idx="2">
                  <c:v>WPM 02/12 - 02/26</c:v>
                </c:pt>
                <c:pt idx="3">
                  <c:v>WPM 02/26 - 03/12</c:v>
                </c:pt>
                <c:pt idx="4">
                  <c:v>WPM 03/12 - 03/26</c:v>
                </c:pt>
                <c:pt idx="5">
                  <c:v>WPM 03/26 - 04/09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8.0</c:v>
                </c:pt>
                <c:pt idx="1">
                  <c:v>18.0</c:v>
                </c:pt>
                <c:pt idx="2">
                  <c:v>21.0</c:v>
                </c:pt>
                <c:pt idx="3">
                  <c:v>17.0</c:v>
                </c:pt>
                <c:pt idx="4">
                  <c:v>0.0</c:v>
                </c:pt>
                <c:pt idx="5">
                  <c:v>11.0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C6-43CF-B264-B5F4771070A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  <c:max val="3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  <c:majorUnit val="4"/>
        <c:minorUnit val="2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000" b="1" i="0" u="none" strike="noStrike" kern="1200" spc="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rPr>
              <a:t>Throughput Distribution</a:t>
            </a:r>
          </a:p>
        </c:rich>
      </c:tx>
      <c:layout>
        <c:manualLayout>
          <c:xMode val="edge"/>
          <c:yMode val="edge"/>
          <c:x val="0.38238485634473712"/>
          <c:y val="5.38306212057864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000" b="1" i="0" u="none" strike="noStrike" kern="1200" spc="0" baseline="0">
              <a:solidFill>
                <a:sysClr val="windowText" lastClr="000000">
                  <a:lumMod val="75000"/>
                  <a:lumOff val="2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SEOD 01/13 - 01/27</c:v>
                </c:pt>
                <c:pt idx="1">
                  <c:v>SEOD 01/27 - 02/10</c:v>
                </c:pt>
                <c:pt idx="2">
                  <c:v>SEOD 02/10 - 02/24</c:v>
                </c:pt>
                <c:pt idx="3">
                  <c:v>SEOD 02/24 - 03/10</c:v>
                </c:pt>
                <c:pt idx="4">
                  <c:v>SEOD 03/10 - 03/24</c:v>
                </c:pt>
                <c:pt idx="5">
                  <c:v>SEOD 03/24 - 04/07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11.0</c:v>
                </c:pt>
                <c:pt idx="1">
                  <c:v>8.0</c:v>
                </c:pt>
                <c:pt idx="2">
                  <c:v>10.0</c:v>
                </c:pt>
                <c:pt idx="3">
                  <c:v>11.0</c:v>
                </c:pt>
                <c:pt idx="4">
                  <c:v>4.0</c:v>
                </c:pt>
                <c:pt idx="5">
                  <c:v>17.0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78-4E68-8F32-93BF1525E6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SEOD 01/13 - 01/27</c:v>
                </c:pt>
                <c:pt idx="1">
                  <c:v>SEOD 01/27 - 02/10</c:v>
                </c:pt>
                <c:pt idx="2">
                  <c:v>SEOD 02/10 - 02/24</c:v>
                </c:pt>
                <c:pt idx="3">
                  <c:v>SEOD 02/24 - 03/10</c:v>
                </c:pt>
                <c:pt idx="4">
                  <c:v>SEOD 03/10 - 03/24</c:v>
                </c:pt>
                <c:pt idx="5">
                  <c:v>SEOD 03/24 - 04/07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26.0</c:v>
                </c:pt>
                <c:pt idx="1">
                  <c:v>39.0</c:v>
                </c:pt>
                <c:pt idx="2">
                  <c:v>33.0</c:v>
                </c:pt>
                <c:pt idx="3">
                  <c:v>33.0</c:v>
                </c:pt>
                <c:pt idx="4">
                  <c:v>22.0</c:v>
                </c:pt>
                <c:pt idx="5">
                  <c:v>14.0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78-4E68-8F32-93BF1525E6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18588528"/>
        <c:axId val="610544976"/>
      </c:barChart>
      <c:catAx>
        <c:axId val="61858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44976"/>
        <c:crosses val="autoZero"/>
        <c:auto val="1"/>
        <c:lblAlgn val="ctr"/>
        <c:lblOffset val="100"/>
        <c:noMultiLvlLbl val="0"/>
      </c:catAx>
      <c:valAx>
        <c:axId val="61054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8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SEOD 01/13 - 01/27</c:v>
                </c:pt>
                <c:pt idx="1">
                  <c:v>SEOD 01/27 - 02/10</c:v>
                </c:pt>
                <c:pt idx="2">
                  <c:v>SEOD 02/10 - 02/24</c:v>
                </c:pt>
                <c:pt idx="3">
                  <c:v>SEOD 02/24 - 03/10</c:v>
                </c:pt>
                <c:pt idx="4">
                  <c:v>SEOD 03/10 - 03/24</c:v>
                </c:pt>
                <c:pt idx="5">
                  <c:v>SEOD 03/24 - 04/07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BF-44E8-B33F-01D3C11ABE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SEOD 01/13 - 01/27</c:v>
                </c:pt>
                <c:pt idx="1">
                  <c:v>SEOD 01/27 - 02/10</c:v>
                </c:pt>
                <c:pt idx="2">
                  <c:v>SEOD 02/10 - 02/24</c:v>
                </c:pt>
                <c:pt idx="3">
                  <c:v>SEOD 02/24 - 03/10</c:v>
                </c:pt>
                <c:pt idx="4">
                  <c:v>SEOD 03/10 - 03/24</c:v>
                </c:pt>
                <c:pt idx="5">
                  <c:v>SEOD 03/24 - 04/07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BF-44E8-B33F-01D3C11ABE4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/>
              <a:t>Carryover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SEOD 01/13 - 01/27</c:v>
                </c:pt>
                <c:pt idx="1">
                  <c:v>SEOD 01/27 - 02/10</c:v>
                </c:pt>
                <c:pt idx="2">
                  <c:v>SEOD 02/10 - 02/24</c:v>
                </c:pt>
                <c:pt idx="3">
                  <c:v>SEOD 02/24 - 03/10</c:v>
                </c:pt>
                <c:pt idx="4">
                  <c:v>SEOD 03/10 - 03/24</c:v>
                </c:pt>
                <c:pt idx="5">
                  <c:v>SEOD 03/24 - 04/07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F6-4666-8EF2-34B4921955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SEOD 01/13 - 01/27</c:v>
                </c:pt>
                <c:pt idx="1">
                  <c:v>SEOD 01/27 - 02/10</c:v>
                </c:pt>
                <c:pt idx="2">
                  <c:v>SEOD 02/10 - 02/24</c:v>
                </c:pt>
                <c:pt idx="3">
                  <c:v>SEOD 02/24 - 03/10</c:v>
                </c:pt>
                <c:pt idx="4">
                  <c:v>SEOD 03/10 - 03/24</c:v>
                </c:pt>
                <c:pt idx="5">
                  <c:v>SEOD 03/24 - 04/07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6.0</c:v>
                </c:pt>
                <c:pt idx="1">
                  <c:v>8.0</c:v>
                </c:pt>
                <c:pt idx="2">
                  <c:v>9.0</c:v>
                </c:pt>
                <c:pt idx="3">
                  <c:v>0.0</c:v>
                </c:pt>
                <c:pt idx="4">
                  <c:v>2.0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F6-4666-8EF2-34B49219555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IN" sz="1000" b="1"/>
              <a:t>Rework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2025: PHX 10/1 - 10/31</c:v>
                </c:pt>
                <c:pt idx="1">
                  <c:v>2025: PHX 11/1 - 11/30</c:v>
                </c:pt>
                <c:pt idx="2">
                  <c:v>2025: PHX 12/1 - 12/31</c:v>
                </c:pt>
                <c:pt idx="3">
                  <c:v>2026: PHX 01/1 - 01/31</c:v>
                </c:pt>
                <c:pt idx="4">
                  <c:v>2026: PHX 2/1 - 2/28</c:v>
                </c:pt>
                <c:pt idx="5">
                  <c:v>2026: PHX 3/1 - 3/31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7A-4D73-A303-E3FB2E0190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2025: PHX 10/1 - 10/31</c:v>
                </c:pt>
                <c:pt idx="1">
                  <c:v>2025: PHX 11/1 - 11/30</c:v>
                </c:pt>
                <c:pt idx="2">
                  <c:v>2025: PHX 12/1 - 12/31</c:v>
                </c:pt>
                <c:pt idx="3">
                  <c:v>2026: PHX 01/1 - 01/31</c:v>
                </c:pt>
                <c:pt idx="4">
                  <c:v>2026: PHX 2/1 - 2/28</c:v>
                </c:pt>
                <c:pt idx="5">
                  <c:v>2026: PHX 3/1 - 3/31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2.0</c:v>
                </c:pt>
                <c:pt idx="1">
                  <c:v>3.0</c:v>
                </c:pt>
                <c:pt idx="2">
                  <c:v>6.0</c:v>
                </c:pt>
                <c:pt idx="3">
                  <c:v>0.0</c:v>
                </c:pt>
                <c:pt idx="4">
                  <c:v>2.0</c:v>
                </c:pt>
                <c:pt idx="5">
                  <c:v>2.0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47A-4D73-A303-E3FB2E01905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89644431"/>
        <c:axId val="1162287007"/>
      </c:lineChart>
      <c:catAx>
        <c:axId val="138964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2287007"/>
        <c:crosses val="autoZero"/>
        <c:auto val="1"/>
        <c:lblAlgn val="ctr"/>
        <c:lblOffset val="100"/>
        <c:noMultiLvlLbl val="0"/>
      </c:catAx>
      <c:valAx>
        <c:axId val="1162287007"/>
        <c:scaling>
          <c:orientation val="minMax"/>
          <c:max val="3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89644431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>
          <a:solidFill>
            <a:schemeClr val="dk1"/>
          </a:solidFill>
        </a:defRPr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0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Throughput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0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2025: PHX 10/1 - 10/31</c:v>
                </c:pt>
                <c:pt idx="1">
                  <c:v>2025: PHX 11/1 - 11/30</c:v>
                </c:pt>
                <c:pt idx="2">
                  <c:v>2025: PHX 12/1 - 12/31</c:v>
                </c:pt>
                <c:pt idx="3">
                  <c:v>2026: PHX 01/1 - 01/31</c:v>
                </c:pt>
                <c:pt idx="4">
                  <c:v>2026: PHX 2/1 - 2/28</c:v>
                </c:pt>
                <c:pt idx="5">
                  <c:v>2026: PHX 3/1 - 3/31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16.0</c:v>
                </c:pt>
                <c:pt idx="1">
                  <c:v>17.0</c:v>
                </c:pt>
                <c:pt idx="2">
                  <c:v>21.0</c:v>
                </c:pt>
                <c:pt idx="3">
                  <c:v>17.0</c:v>
                </c:pt>
                <c:pt idx="4">
                  <c:v>11.0</c:v>
                </c:pt>
                <c:pt idx="5">
                  <c:v>14.0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88-48C3-8E0F-FFEFBD63E0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2025: PHX 10/1 - 10/31</c:v>
                </c:pt>
                <c:pt idx="1">
                  <c:v>2025: PHX 11/1 - 11/30</c:v>
                </c:pt>
                <c:pt idx="2">
                  <c:v>2025: PHX 12/1 - 12/31</c:v>
                </c:pt>
                <c:pt idx="3">
                  <c:v>2026: PHX 01/1 - 01/31</c:v>
                </c:pt>
                <c:pt idx="4">
                  <c:v>2026: PHX 2/1 - 2/28</c:v>
                </c:pt>
                <c:pt idx="5">
                  <c:v>2026: PHX 3/1 - 3/31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88-48C3-8E0F-FFEFBD63E0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2034879"/>
        <c:axId val="95947023"/>
      </c:barChart>
      <c:catAx>
        <c:axId val="232034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47023"/>
        <c:crosses val="autoZero"/>
        <c:auto val="1"/>
        <c:lblAlgn val="ctr"/>
        <c:lblOffset val="100"/>
        <c:noMultiLvlLbl val="0"/>
      </c:catAx>
      <c:valAx>
        <c:axId val="95947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2034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/>
              <a:t>Rework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2026 0: SLE 01/14 - 1/28</c:v>
                </c:pt>
                <c:pt idx="1">
                  <c:v>2026 1: SLE 01/28 - 02/11</c:v>
                </c:pt>
                <c:pt idx="2">
                  <c:v>2026 2: SLE 02/11 - 02/25</c:v>
                </c:pt>
                <c:pt idx="3">
                  <c:v>2026 3: SLE 02/25 - 03/11</c:v>
                </c:pt>
                <c:pt idx="4">
                  <c:v>2026 4: SLE 03/11 - 03/25</c:v>
                </c:pt>
                <c:pt idx="5">
                  <c:v>2026 5: SLE 03/25 - 04/08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BA-4CDB-87EB-172602E4A1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2026 0: SLE 01/14 - 1/28</c:v>
                </c:pt>
                <c:pt idx="1">
                  <c:v>2026 1: SLE 01/28 - 02/11</c:v>
                </c:pt>
                <c:pt idx="2">
                  <c:v>2026 2: SLE 02/11 - 02/25</c:v>
                </c:pt>
                <c:pt idx="3">
                  <c:v>2026 3: SLE 02/25 - 03/11</c:v>
                </c:pt>
                <c:pt idx="4">
                  <c:v>2026 4: SLE 03/11 - 03/25</c:v>
                </c:pt>
                <c:pt idx="5">
                  <c:v>2026 5: SLE 03/25 - 04/08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4.0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BA-4CDB-87EB-172602E4A18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42062255"/>
        <c:axId val="1404801663"/>
      </c:lineChart>
      <c:catAx>
        <c:axId val="1842062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4801663"/>
        <c:crosses val="autoZero"/>
        <c:auto val="1"/>
        <c:lblAlgn val="ctr"/>
        <c:lblOffset val="100"/>
        <c:noMultiLvlLbl val="0"/>
      </c:catAx>
      <c:valAx>
        <c:axId val="1404801663"/>
        <c:scaling>
          <c:orientation val="minMax"/>
          <c:max val="2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crossAx val="1842062255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baseline="0">
                <a:effectLst/>
              </a:rPr>
              <a:t>Throughput Distribution</a:t>
            </a:r>
            <a:endParaRPr lang="en-IN" sz="10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2026 0: SLE 01/14 - 1/28</c:v>
                </c:pt>
                <c:pt idx="1">
                  <c:v>2026 1: SLE 01/28 - 02/11</c:v>
                </c:pt>
                <c:pt idx="2">
                  <c:v>2026 2: SLE 02/11 - 02/25</c:v>
                </c:pt>
                <c:pt idx="3">
                  <c:v>2026 3: SLE 02/25 - 03/11</c:v>
                </c:pt>
                <c:pt idx="4">
                  <c:v>2026 4: SLE 03/11 - 03/25</c:v>
                </c:pt>
                <c:pt idx="5">
                  <c:v>2026 5: SLE 03/25 - 04/08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8.0</c:v>
                </c:pt>
                <c:pt idx="1">
                  <c:v>8.0</c:v>
                </c:pt>
                <c:pt idx="2">
                  <c:v>5.0</c:v>
                </c:pt>
                <c:pt idx="3">
                  <c:v>12.0</c:v>
                </c:pt>
                <c:pt idx="4">
                  <c:v>14.0</c:v>
                </c:pt>
                <c:pt idx="5">
                  <c:v>15.0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32-47E1-8187-2D203889D2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2026 0: SLE 01/14 - 1/28</c:v>
                </c:pt>
                <c:pt idx="1">
                  <c:v>2026 1: SLE 01/28 - 02/11</c:v>
                </c:pt>
                <c:pt idx="2">
                  <c:v>2026 2: SLE 02/11 - 02/25</c:v>
                </c:pt>
                <c:pt idx="3">
                  <c:v>2026 3: SLE 02/25 - 03/11</c:v>
                </c:pt>
                <c:pt idx="4">
                  <c:v>2026 4: SLE 03/11 - 03/25</c:v>
                </c:pt>
                <c:pt idx="5">
                  <c:v>2026 5: SLE 03/25 - 04/08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51.0</c:v>
                </c:pt>
                <c:pt idx="1">
                  <c:v>80.0</c:v>
                </c:pt>
                <c:pt idx="2">
                  <c:v>78.0</c:v>
                </c:pt>
                <c:pt idx="3">
                  <c:v>61.0</c:v>
                </c:pt>
                <c:pt idx="4">
                  <c:v>73.0</c:v>
                </c:pt>
                <c:pt idx="5">
                  <c:v>76.0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32-47E1-8187-2D203889D2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100"/>
        <c:axId val="1934592767"/>
        <c:axId val="103664495"/>
      </c:barChart>
      <c:catAx>
        <c:axId val="1934592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664495"/>
        <c:crosses val="autoZero"/>
        <c:auto val="1"/>
        <c:lblAlgn val="ctr"/>
        <c:lblOffset val="100"/>
        <c:noMultiLvlLbl val="0"/>
      </c:catAx>
      <c:valAx>
        <c:axId val="103664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4592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000" b="1" i="0" u="none" strike="noStrike" kern="1200" spc="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rPr>
              <a:t>Throughput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000" b="1" i="0" u="none" strike="noStrike" kern="1200" spc="0" baseline="0">
              <a:solidFill>
                <a:sysClr val="windowText" lastClr="000000">
                  <a:lumMod val="75000"/>
                  <a:lumOff val="25000"/>
                </a:sys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Flex '26 Sprint 1: 1/8 - 1/22</c:v>
                </c:pt>
                <c:pt idx="1">
                  <c:v>Flex '26 Sprint 2: 1/22 - 2/5</c:v>
                </c:pt>
                <c:pt idx="2">
                  <c:v>Flex '26 Sprint 3: 2/5 - 2/19</c:v>
                </c:pt>
                <c:pt idx="3">
                  <c:v>Flex '26 Sprint 4: 2/19 - 3/5</c:v>
                </c:pt>
                <c:pt idx="4">
                  <c:v>Flex '26 Sprint 5: 3/5 - 3/19</c:v>
                </c:pt>
                <c:pt idx="5">
                  <c:v>Flex '26 Sprint 6: 3/19 - 4/2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15.0</c:v>
                </c:pt>
                <c:pt idx="1">
                  <c:v>7.0</c:v>
                </c:pt>
                <c:pt idx="2">
                  <c:v>5.0</c:v>
                </c:pt>
                <c:pt idx="3">
                  <c:v>4.0</c:v>
                </c:pt>
                <c:pt idx="4">
                  <c:v>13.0</c:v>
                </c:pt>
                <c:pt idx="5">
                  <c:v>8.0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B3-4CCD-B03E-21E326845E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Flex '26 Sprint 1: 1/8 - 1/22</c:v>
                </c:pt>
                <c:pt idx="1">
                  <c:v>Flex '26 Sprint 2: 1/22 - 2/5</c:v>
                </c:pt>
                <c:pt idx="2">
                  <c:v>Flex '26 Sprint 3: 2/5 - 2/19</c:v>
                </c:pt>
                <c:pt idx="3">
                  <c:v>Flex '26 Sprint 4: 2/19 - 3/5</c:v>
                </c:pt>
                <c:pt idx="4">
                  <c:v>Flex '26 Sprint 5: 3/5 - 3/19</c:v>
                </c:pt>
                <c:pt idx="5">
                  <c:v>Flex '26 Sprint 6: 3/19 - 4/2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30.0</c:v>
                </c:pt>
                <c:pt idx="1">
                  <c:v>49.0</c:v>
                </c:pt>
                <c:pt idx="2">
                  <c:v>36.0</c:v>
                </c:pt>
                <c:pt idx="3">
                  <c:v>30.0</c:v>
                </c:pt>
                <c:pt idx="4">
                  <c:v>24.0</c:v>
                </c:pt>
                <c:pt idx="5">
                  <c:v>21.0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B3-4CCD-B03E-21E326845E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2034879"/>
        <c:axId val="95947023"/>
      </c:barChart>
      <c:catAx>
        <c:axId val="232034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47023"/>
        <c:crosses val="autoZero"/>
        <c:auto val="1"/>
        <c:lblAlgn val="ctr"/>
        <c:lblOffset val="100"/>
        <c:noMultiLvlLbl val="0"/>
      </c:catAx>
      <c:valAx>
        <c:axId val="95947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2034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Flex '26 Sprint 1: 1/8 - 1/22</c:v>
                </c:pt>
                <c:pt idx="1">
                  <c:v>Flex '26 Sprint 2: 1/22 - 2/5</c:v>
                </c:pt>
                <c:pt idx="2">
                  <c:v>Flex '26 Sprint 3: 2/5 - 2/19</c:v>
                </c:pt>
                <c:pt idx="3">
                  <c:v>Flex '26 Sprint 4: 2/19 - 3/5</c:v>
                </c:pt>
                <c:pt idx="4">
                  <c:v>Flex '26 Sprint 5: 3/5 - 3/19</c:v>
                </c:pt>
                <c:pt idx="5">
                  <c:v>Flex '26 Sprint 6: 3/19 - 4/2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76-493E-9067-516D051341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Flex '26 Sprint 1: 1/8 - 1/22</c:v>
                </c:pt>
                <c:pt idx="1">
                  <c:v>Flex '26 Sprint 2: 1/22 - 2/5</c:v>
                </c:pt>
                <c:pt idx="2">
                  <c:v>Flex '26 Sprint 3: 2/5 - 2/19</c:v>
                </c:pt>
                <c:pt idx="3">
                  <c:v>Flex '26 Sprint 4: 2/19 - 3/5</c:v>
                </c:pt>
                <c:pt idx="4">
                  <c:v>Flex '26 Sprint 5: 3/5 - 3/19</c:v>
                </c:pt>
                <c:pt idx="5">
                  <c:v>Flex '26 Sprint 6: 3/19 - 4/2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5.0</c:v>
                </c:pt>
                <c:pt idx="1">
                  <c:v>0.0</c:v>
                </c:pt>
                <c:pt idx="2">
                  <c:v>0.0</c:v>
                </c:pt>
                <c:pt idx="3">
                  <c:v>3.0</c:v>
                </c:pt>
                <c:pt idx="4">
                  <c:v>0.0</c:v>
                </c:pt>
                <c:pt idx="5">
                  <c:v>3.0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76-493E-9067-516D051341A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89644431"/>
        <c:axId val="1162287007"/>
      </c:lineChart>
      <c:catAx>
        <c:axId val="138964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2287007"/>
        <c:crosses val="autoZero"/>
        <c:auto val="1"/>
        <c:lblAlgn val="ctr"/>
        <c:lblOffset val="100"/>
        <c:noMultiLvlLbl val="0"/>
      </c:catAx>
      <c:valAx>
        <c:axId val="1162287007"/>
        <c:scaling>
          <c:orientation val="minMax"/>
          <c:max val="15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89644431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/>
              <a:t>Carryover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Flex '26 Sprint 1: 1/8 - 1/22</c:v>
                </c:pt>
                <c:pt idx="1">
                  <c:v>Flex '26 Sprint 2: 1/22 - 2/5</c:v>
                </c:pt>
                <c:pt idx="2">
                  <c:v>Flex '26 Sprint 3: 2/5 - 2/19</c:v>
                </c:pt>
                <c:pt idx="3">
                  <c:v>Flex '26 Sprint 4: 2/19 - 3/5</c:v>
                </c:pt>
                <c:pt idx="4">
                  <c:v>Flex '26 Sprint 5: 3/5 - 3/19</c:v>
                </c:pt>
                <c:pt idx="5">
                  <c:v>Flex '26 Sprint 6: 3/19 - 4/2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0.0</c:v>
                </c:pt>
                <c:pt idx="2">
                  <c:v>3.0</c:v>
                </c:pt>
                <c:pt idx="3">
                  <c:v>12.0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3C-4A08-9AC3-F2CE1AD1C1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Flex '26 Sprint 1: 1/8 - 1/22</c:v>
                </c:pt>
                <c:pt idx="1">
                  <c:v>Flex '26 Sprint 2: 1/22 - 2/5</c:v>
                </c:pt>
                <c:pt idx="2">
                  <c:v>Flex '26 Sprint 3: 2/5 - 2/19</c:v>
                </c:pt>
                <c:pt idx="3">
                  <c:v>Flex '26 Sprint 4: 2/19 - 3/5</c:v>
                </c:pt>
                <c:pt idx="4">
                  <c:v>Flex '26 Sprint 5: 3/5 - 3/19</c:v>
                </c:pt>
                <c:pt idx="5">
                  <c:v>Flex '26 Sprint 6: 3/19 - 4/2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21.0</c:v>
                </c:pt>
                <c:pt idx="1">
                  <c:v>8.0</c:v>
                </c:pt>
                <c:pt idx="2">
                  <c:v>11.0</c:v>
                </c:pt>
                <c:pt idx="3">
                  <c:v>6.0</c:v>
                </c:pt>
                <c:pt idx="4">
                  <c:v>16.0</c:v>
                </c:pt>
                <c:pt idx="5">
                  <c:v>26.0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3C-4A08-9AC3-F2CE1AD1C14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89644431"/>
        <c:axId val="1162287007"/>
      </c:lineChart>
      <c:catAx>
        <c:axId val="138964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2287007"/>
        <c:crosses val="autoZero"/>
        <c:auto val="1"/>
        <c:lblAlgn val="ctr"/>
        <c:lblOffset val="100"/>
        <c:noMultiLvlLbl val="0"/>
      </c:catAx>
      <c:valAx>
        <c:axId val="1162287007"/>
        <c:scaling>
          <c:orientation val="minMax"/>
          <c:max val="4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89644431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993DC0-A96F-1044-9BF2-0EE9ECE60E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D88D5-0275-8B4E-80EF-5087F03924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03AF0-B23D-1247-A1E8-E85A974C32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17924-B23A-8A48-B9BA-D7E956FB5F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7E62F-45C1-D641-9A03-BB15B3C792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B197E-761D-7843-A906-62CAAEF6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403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E08F-1CFA-B549-95DA-BEBAC81EF54F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95FB1-80F1-D840-9E98-AECC481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37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49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336D-289D-729D-B97C-9167FDC6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9D6F2-490C-6210-426D-13A161594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F2599-4B74-C375-0BA6-601DBB77B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66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FC1C-EF3A-320C-68AC-D47D7E09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391B0-093E-36F4-122B-51A3A41D5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C0DB7-096D-6EC9-892A-D2AFBC406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68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41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07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003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81399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hyperlink" Target="https://www.facebook.com/v2solutions" TargetMode="External"/><Relationship Id="rId4" Type="http://schemas.openxmlformats.org/officeDocument/2006/relationships/image" Target="../media/image9.svg"/><Relationship Id="rId5" Type="http://schemas.openxmlformats.org/officeDocument/2006/relationships/hyperlink" Target="https://www.linkedin.com/company/v2solutions" TargetMode="External"/><Relationship Id="rId6" Type="http://schemas.openxmlformats.org/officeDocument/2006/relationships/image" Target="../media/image10.svg"/><Relationship Id="rId7" Type="http://schemas.openxmlformats.org/officeDocument/2006/relationships/hyperlink" Target="https://twitter.com/v2solutions" TargetMode="External"/><Relationship Id="rId8" Type="http://schemas.openxmlformats.org/officeDocument/2006/relationships/image" Target="../media/image11.svg"/><Relationship Id="rId9" Type="http://schemas.openxmlformats.org/officeDocument/2006/relationships/hyperlink" Target="https://www.youtube.com/channel/UCLetlk1H_K6rIUt8NvplEgg" TargetMode="External"/><Relationship Id="rId10" Type="http://schemas.openxmlformats.org/officeDocument/2006/relationships/image" Target="../media/image12.svg"/><Relationship Id="rId11" Type="http://schemas.openxmlformats.org/officeDocument/2006/relationships/hyperlink" Target="https://www.instagram.com/v2solutions_official/" TargetMode="External"/><Relationship Id="rId12" Type="http://schemas.openxmlformats.org/officeDocument/2006/relationships/image" Target="../media/image1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4.svg"/><Relationship Id="rId7" Type="http://schemas.openxmlformats.org/officeDocument/2006/relationships/hyperlink" Target="https://www.facebook.com/v2solutions" TargetMode="External"/><Relationship Id="rId8" Type="http://schemas.openxmlformats.org/officeDocument/2006/relationships/image" Target="../media/image9.svg"/><Relationship Id="rId9" Type="http://schemas.openxmlformats.org/officeDocument/2006/relationships/hyperlink" Target="https://www.linkedin.com/company/v2solutions" TargetMode="External"/><Relationship Id="rId10" Type="http://schemas.openxmlformats.org/officeDocument/2006/relationships/image" Target="../media/image10.svg"/><Relationship Id="rId11" Type="http://schemas.openxmlformats.org/officeDocument/2006/relationships/hyperlink" Target="https://twitter.com/v2solutions" TargetMode="External"/><Relationship Id="rId12" Type="http://schemas.openxmlformats.org/officeDocument/2006/relationships/image" Target="../media/image11.svg"/><Relationship Id="rId13" Type="http://schemas.openxmlformats.org/officeDocument/2006/relationships/hyperlink" Target="https://www.youtube.com/channel/UCLetlk1H_K6rIUt8NvplEgg" TargetMode="External"/><Relationship Id="rId14" Type="http://schemas.openxmlformats.org/officeDocument/2006/relationships/image" Target="../media/image12.svg"/><Relationship Id="rId15" Type="http://schemas.openxmlformats.org/officeDocument/2006/relationships/hyperlink" Target="https://www.instagram.com/v2solutions_official/" TargetMode="External"/><Relationship Id="rId16" Type="http://schemas.openxmlformats.org/officeDocument/2006/relationships/image" Target="../media/image1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eg"/><Relationship Id="rId3" Type="http://schemas.openxmlformats.org/officeDocument/2006/relationships/image" Target="../media/image1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eg"/><Relationship Id="rId3" Type="http://schemas.openxmlformats.org/officeDocument/2006/relationships/image" Target="../media/image1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eg"/><Relationship Id="rId3" Type="http://schemas.openxmlformats.org/officeDocument/2006/relationships/image" Target="../media/image1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eg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4.svg"/><Relationship Id="rId8" Type="http://schemas.openxmlformats.org/officeDocument/2006/relationships/hyperlink" Target="https://www.facebook.com/v2solutions" TargetMode="External"/><Relationship Id="rId9" Type="http://schemas.openxmlformats.org/officeDocument/2006/relationships/image" Target="../media/image9.svg"/><Relationship Id="rId10" Type="http://schemas.openxmlformats.org/officeDocument/2006/relationships/hyperlink" Target="https://www.linkedin.com/company/v2solutions" TargetMode="External"/><Relationship Id="rId11" Type="http://schemas.openxmlformats.org/officeDocument/2006/relationships/image" Target="../media/image10.svg"/><Relationship Id="rId12" Type="http://schemas.openxmlformats.org/officeDocument/2006/relationships/hyperlink" Target="https://twitter.com/v2solutions" TargetMode="External"/><Relationship Id="rId13" Type="http://schemas.openxmlformats.org/officeDocument/2006/relationships/image" Target="../media/image11.svg"/><Relationship Id="rId14" Type="http://schemas.openxmlformats.org/officeDocument/2006/relationships/hyperlink" Target="https://www.youtube.com/channel/UCLetlk1H_K6rIUt8NvplEgg" TargetMode="External"/><Relationship Id="rId15" Type="http://schemas.openxmlformats.org/officeDocument/2006/relationships/image" Target="../media/image12.svg"/><Relationship Id="rId16" Type="http://schemas.openxmlformats.org/officeDocument/2006/relationships/hyperlink" Target="https://www.instagram.com/v2solutions_official/" TargetMode="External"/><Relationship Id="rId17" Type="http://schemas.openxmlformats.org/officeDocument/2006/relationships/image" Target="../media/image1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eg"/><Relationship Id="rId3" Type="http://schemas.openxmlformats.org/officeDocument/2006/relationships/image" Target="../media/image4.svg"/><Relationship Id="rId4" Type="http://schemas.openxmlformats.org/officeDocument/2006/relationships/hyperlink" Target="https://www.facebook.com/v2solutions" TargetMode="External"/><Relationship Id="rId5" Type="http://schemas.openxmlformats.org/officeDocument/2006/relationships/image" Target="../media/image9.svg"/><Relationship Id="rId6" Type="http://schemas.openxmlformats.org/officeDocument/2006/relationships/hyperlink" Target="https://www.linkedin.com/company/v2solutions" TargetMode="External"/><Relationship Id="rId7" Type="http://schemas.openxmlformats.org/officeDocument/2006/relationships/image" Target="../media/image10.svg"/><Relationship Id="rId8" Type="http://schemas.openxmlformats.org/officeDocument/2006/relationships/hyperlink" Target="https://twitter.com/v2solutions" TargetMode="External"/><Relationship Id="rId9" Type="http://schemas.openxmlformats.org/officeDocument/2006/relationships/image" Target="../media/image11.svg"/><Relationship Id="rId10" Type="http://schemas.openxmlformats.org/officeDocument/2006/relationships/hyperlink" Target="https://www.youtube.com/channel/UCLetlk1H_K6rIUt8NvplEgg" TargetMode="External"/><Relationship Id="rId11" Type="http://schemas.openxmlformats.org/officeDocument/2006/relationships/image" Target="../media/image12.svg"/><Relationship Id="rId12" Type="http://schemas.openxmlformats.org/officeDocument/2006/relationships/hyperlink" Target="https://www.instagram.com/v2solutions_official/" TargetMode="External"/><Relationship Id="rId13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5C2A9C-3A84-6349-8EC0-9D9879E16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63835" y="3817848"/>
            <a:ext cx="3664330" cy="5203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9D9EA2"/>
                </a:solidFill>
              </a:defRPr>
            </a:lvl1pPr>
          </a:lstStyle>
          <a:p>
            <a:pPr lvl="0"/>
            <a:r>
              <a:rPr lang="en-US"/>
              <a:t>Month DD, YYYY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0870EE-3235-0F41-BFF7-1D03756E29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67216" y="4881040"/>
            <a:ext cx="3657568" cy="729125"/>
          </a:xfrm>
          <a:prstGeom prst="rect">
            <a:avLst/>
          </a:prstGeom>
        </p:spPr>
      </p:pic>
      <p:sp>
        <p:nvSpPr>
          <p:cNvPr id="15" name="Title Placeholder 21">
            <a:extLst>
              <a:ext uri="{FF2B5EF4-FFF2-40B4-BE49-F238E27FC236}">
                <a16:creationId xmlns:a16="http://schemas.microsoft.com/office/drawing/2014/main" id="{2B841236-8F00-BD4D-BD34-56537298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550" y="2818002"/>
            <a:ext cx="6438901" cy="762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ctr">
              <a:lnSpc>
                <a:spcPct val="120000"/>
              </a:lnSpc>
              <a:defRPr sz="3000">
                <a:solidFill>
                  <a:srgbClr val="494342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kumimoji="0" lang="en-GB"/>
              <a:t>Click to edit Master title style</a:t>
            </a:r>
            <a:endParaRPr kumimoji="0"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1BE35EA-C544-234E-9C3F-4E4D07BEF0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94262" y="1698335"/>
            <a:ext cx="3003475" cy="56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2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EFCE0E0-3AEA-BC41-AB79-F33160FD1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87448"/>
            <a:ext cx="11546840" cy="491823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kumimoji="0" lang="en-GB"/>
              <a:t>Click to edit Master text styles</a:t>
            </a:r>
          </a:p>
          <a:p>
            <a:pPr lvl="1"/>
            <a:r>
              <a:rPr kumimoji="0" lang="en-GB"/>
              <a:t>Second level</a:t>
            </a:r>
          </a:p>
          <a:p>
            <a:pPr lvl="2"/>
            <a:r>
              <a:rPr kumimoji="0" lang="en-GB"/>
              <a:t>Third level</a:t>
            </a:r>
          </a:p>
          <a:p>
            <a:pPr lvl="3"/>
            <a:r>
              <a:rPr kumimoji="0" lang="en-GB"/>
              <a:t>Fourth level</a:t>
            </a:r>
          </a:p>
          <a:p>
            <a:pPr lvl="4"/>
            <a:r>
              <a:rPr kumimoji="0" lang="en-GB"/>
              <a:t>Fifth level</a:t>
            </a:r>
            <a:endParaRPr kumimoji="0"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33B06D-FDBC-734D-81C5-C4805D9F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224ED0-2756-EC4F-827F-8D6DDEDB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414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6DAF61-A359-C649-992A-B6C019406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601D5D-00DF-964D-9335-BC3035282D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400" y="1087449"/>
            <a:ext cx="11527589" cy="49182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r>
              <a:rPr lang="en-US" sz="2400"/>
              <a:t>One last note about constructing slides:  The placeholder boxes define the ideal margins.  This will help to convey a clear, concise message with each slide.  We want to avoid overloading slides with too much text and / or too many images.  V2 is organized and has a well-thought-out business plan–and that shows through with our collateral.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If everything doesn’t fit on a slide, consider breaking it into two, or reconsider some of the elements - perhaps they can be conveyed in a more succinct manner.</a:t>
            </a:r>
          </a:p>
          <a:p>
            <a:pPr lvl="0"/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B53315D-3996-2F43-B4E8-163BDB53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05A23-905A-E640-AA67-0A0B8926B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593699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CA34E3A-5229-8342-A77B-6B7858218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5297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2FFDBC2-64A1-7446-8DF2-00C763FAE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1434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118B505-A1EF-3F40-80CD-8CCDA32DC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9400" y="1087449"/>
            <a:ext cx="5626100" cy="49182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0E7A7B8D-D40C-F44E-8CE8-310194C2F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800" y="1087450"/>
            <a:ext cx="5626800" cy="49182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F2A2D25-E2CE-814F-A775-FA9623652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D4FB7F-2510-854C-A6EB-FA4651D47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3046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7B189-EBA3-4E42-84DD-07B1F23DB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400" y="1087449"/>
            <a:ext cx="5626100" cy="823912"/>
          </a:xfrm>
          <a:prstGeom prst="rect">
            <a:avLst/>
          </a:prstGeom>
          <a:solidFill>
            <a:srgbClr val="76B1CD"/>
          </a:solidFill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9875-69A8-E446-AE12-EF651A399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9400" y="2040556"/>
            <a:ext cx="5626100" cy="39651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697B6-B782-8847-A79F-80DB7B312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3800" y="1087449"/>
            <a:ext cx="5626800" cy="823912"/>
          </a:xfrm>
          <a:prstGeom prst="rect">
            <a:avLst/>
          </a:prstGeom>
          <a:solidFill>
            <a:srgbClr val="FBB03B"/>
          </a:solidFill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EBE2D-5723-AC4A-9046-6DE8712C2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800" y="2040556"/>
            <a:ext cx="5626800" cy="39651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8B7A9DC-5786-5742-912C-8E7F0B5D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5CD87C2-C59B-974D-AC25-339741708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049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51ED3-BF94-2540-AB51-49E98782C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400" y="2274104"/>
            <a:ext cx="4442619" cy="373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EE49065-ABB2-CA49-A794-AE8B610A9F33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79400" y="1084067"/>
            <a:ext cx="4442619" cy="9937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08A16B-7E46-124A-9B69-0C029ECF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32" y="1084066"/>
            <a:ext cx="6969600" cy="492500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F514F4-7361-2140-85D1-2C3F403A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CD281-421D-E249-AF74-E22532C27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973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2087B-07A5-3540-B012-AFE1DC6DB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53000" y="1084067"/>
            <a:ext cx="6969600" cy="49250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4FEF35-72E0-2D46-A5E2-CA69F769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046F2-61AD-F946-805D-7FC52D0F8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D9D44D8-D90F-3242-A871-C5AC71375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400" y="2274104"/>
            <a:ext cx="4442619" cy="373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AEAE52-9047-554F-B1EB-6B327AFB9CF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79400" y="1084067"/>
            <a:ext cx="4442619" cy="9937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414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9ECB5C-47DB-5C4F-A482-978DFA02E11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87911" y="1084066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3DF4A86-459B-3047-8D9F-5752392D58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9400" y="1084263"/>
            <a:ext cx="5817600" cy="4924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7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BBDDCA0-B8E7-4449-A985-89799EEA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43E958-4ACC-F64A-AC90-962A06FE1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A9315FE-63CE-C144-B100-DB8EC435E7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9400" y="1084262"/>
            <a:ext cx="5623200" cy="492442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560FDD-615B-9C4C-99FD-A6941D957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084262"/>
            <a:ext cx="5817600" cy="4924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4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ie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pic>
        <p:nvPicPr>
          <p:cNvPr id="18" name="image79.png">
            <a:extLst>
              <a:ext uri="{FF2B5EF4-FFF2-40B4-BE49-F238E27FC236}">
                <a16:creationId xmlns:a16="http://schemas.microsoft.com/office/drawing/2014/main" id="{550996B1-246B-8542-9695-0703E1295B16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778" y="1122773"/>
            <a:ext cx="45720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80.png">
            <a:extLst>
              <a:ext uri="{FF2B5EF4-FFF2-40B4-BE49-F238E27FC236}">
                <a16:creationId xmlns:a16="http://schemas.microsoft.com/office/drawing/2014/main" id="{5FEE9EE6-19BE-CE42-BADC-34643CB238EB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778" y="2221764"/>
            <a:ext cx="4572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E314F7D5-868E-2A40-B2F5-4E504E7F1F7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280800" y="1072442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A957F73F-5940-3742-9C9A-34022585DE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7106" y="1122773"/>
            <a:ext cx="4984094" cy="281937"/>
          </a:xfrm>
        </p:spPr>
        <p:txBody>
          <a:bodyPr wrap="square" anchor="t" anchorCtr="0">
            <a:spAutoFit/>
          </a:bodyPr>
          <a:lstStyle>
            <a:lvl1pPr marL="14288" indent="0">
              <a:buFontTx/>
              <a:buNone/>
              <a:tabLst/>
              <a:defRPr sz="1200"/>
            </a:lvl1pPr>
          </a:lstStyle>
          <a:p>
            <a:pPr lvl="0" indent="0">
              <a:buClrTx/>
              <a:buSzTx/>
            </a:pPr>
            <a:endParaRPr lang="en-US" sz="1100">
              <a:solidFill>
                <a:prstClr val="black">
                  <a:lumMod val="75000"/>
                  <a:lumOff val="25000"/>
                </a:prstClr>
              </a:solidFill>
              <a:cs typeface="Calibri" panose="020F0502020204030204" pitchFamily="34" charset="0"/>
            </a:endParaRPr>
          </a:p>
        </p:txBody>
      </p:sp>
      <p:sp>
        <p:nvSpPr>
          <p:cNvPr id="38" name="Content Placeholder 30">
            <a:extLst>
              <a:ext uri="{FF2B5EF4-FFF2-40B4-BE49-F238E27FC236}">
                <a16:creationId xmlns:a16="http://schemas.microsoft.com/office/drawing/2014/main" id="{2BCDAFE4-9FD7-E445-8A3C-EA147CD5B46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927105" y="2221764"/>
            <a:ext cx="4940032" cy="297783"/>
          </a:xfrm>
          <a:ln w="12700">
            <a:miter lim="400000"/>
          </a:ln>
        </p:spPr>
        <p:txBody>
          <a:bodyPr wrap="square" lIns="35717" tIns="35717" rIns="35717" bIns="35717" anchor="t" anchorCtr="0">
            <a:spAutoFit/>
          </a:bodyPr>
          <a:lstStyle/>
          <a:p>
            <a:pPr marL="171450" indent="-171450">
              <a:lnSpc>
                <a:spcPct val="114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endParaRPr lang="en-US" sz="1200" kern="0"/>
          </a:p>
        </p:txBody>
      </p:sp>
    </p:spTree>
    <p:extLst>
      <p:ext uri="{BB962C8B-B14F-4D97-AF65-F5344CB8AC3E}">
        <p14:creationId xmlns:p14="http://schemas.microsoft.com/office/powerpoint/2010/main" val="3655267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ie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9ECB5C-47DB-5C4F-A482-978DFA02E11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87911" y="1084066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6" name="image79.png">
            <a:extLst>
              <a:ext uri="{FF2B5EF4-FFF2-40B4-BE49-F238E27FC236}">
                <a16:creationId xmlns:a16="http://schemas.microsoft.com/office/drawing/2014/main" id="{EDFF5F80-A005-2048-A7ED-E7EF7157C0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800" y="1084066"/>
            <a:ext cx="45720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image80.png">
            <a:extLst>
              <a:ext uri="{FF2B5EF4-FFF2-40B4-BE49-F238E27FC236}">
                <a16:creationId xmlns:a16="http://schemas.microsoft.com/office/drawing/2014/main" id="{98FC47F4-4BB4-8641-B506-E63B8C047BE9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800" y="2183057"/>
            <a:ext cx="4572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1FC5541B-FB3A-0740-B5E6-1EBAD0F057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995" y="1099110"/>
            <a:ext cx="4984094" cy="281937"/>
          </a:xfrm>
        </p:spPr>
        <p:txBody>
          <a:bodyPr wrap="square" anchor="t" anchorCtr="0">
            <a:spAutoFit/>
          </a:bodyPr>
          <a:lstStyle>
            <a:lvl1pPr marL="14288" indent="0">
              <a:buFontTx/>
              <a:buNone/>
              <a:tabLst/>
              <a:defRPr sz="1200"/>
            </a:lvl1pPr>
          </a:lstStyle>
          <a:p>
            <a:pPr lvl="0" indent="0">
              <a:buClrTx/>
              <a:buSzTx/>
            </a:pPr>
            <a:endParaRPr lang="en-US" sz="1100">
              <a:solidFill>
                <a:prstClr val="black">
                  <a:lumMod val="75000"/>
                  <a:lumOff val="25000"/>
                </a:prstClr>
              </a:solidFill>
              <a:cs typeface="Calibri" panose="020F0502020204030204" pitchFamily="34" charset="0"/>
            </a:endParaRPr>
          </a:p>
        </p:txBody>
      </p:sp>
      <p:sp>
        <p:nvSpPr>
          <p:cNvPr id="24" name="Content Placeholder 30">
            <a:extLst>
              <a:ext uri="{FF2B5EF4-FFF2-40B4-BE49-F238E27FC236}">
                <a16:creationId xmlns:a16="http://schemas.microsoft.com/office/drawing/2014/main" id="{F9261BF2-14FF-2147-A827-580B8A8221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9995" y="2198101"/>
            <a:ext cx="4940032" cy="297783"/>
          </a:xfrm>
          <a:ln w="12700">
            <a:miter lim="400000"/>
          </a:ln>
        </p:spPr>
        <p:txBody>
          <a:bodyPr wrap="square" lIns="35717" tIns="35717" rIns="35717" bIns="35717" anchor="t" anchorCtr="0">
            <a:spAutoFit/>
          </a:bodyPr>
          <a:lstStyle/>
          <a:p>
            <a:pPr marL="171450" indent="-171450">
              <a:lnSpc>
                <a:spcPct val="114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endParaRPr lang="en-US" sz="1200" kern="0"/>
          </a:p>
        </p:txBody>
      </p:sp>
    </p:spTree>
    <p:extLst>
      <p:ext uri="{BB962C8B-B14F-4D97-AF65-F5344CB8AC3E}">
        <p14:creationId xmlns:p14="http://schemas.microsoft.com/office/powerpoint/2010/main" val="552688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2087B-07A5-3540-B012-AFE1DC6DB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9311" y="1037591"/>
            <a:ext cx="3600000" cy="244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0AABD36-E5C7-DE40-B27A-1EA54B6AB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1780" y="1037591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70AFA6B-7B5B-E64A-A620-FFCFA437638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81780" y="3647973"/>
            <a:ext cx="3600000" cy="244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18C050B-6F68-0645-8AB6-804F3126641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256843" y="3648748"/>
            <a:ext cx="3600000" cy="244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DB7EEB-1596-1E48-BB91-12EBC9C901F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269311" y="3649927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E3F18EF-C1DC-9E48-AE8D-F53623F1B08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256843" y="1037591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E010537-A2F9-8F47-9A4E-DF6093978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C1F77B0-5594-4D48-9232-E9B4F1D25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8894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velopment 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92">
            <a:extLst>
              <a:ext uri="{FF2B5EF4-FFF2-40B4-BE49-F238E27FC236}">
                <a16:creationId xmlns:a16="http://schemas.microsoft.com/office/drawing/2014/main" id="{07CFF31B-5BDA-E545-BCFE-6AE44BA95135}"/>
              </a:ext>
            </a:extLst>
          </p:cNvPr>
          <p:cNvSpPr/>
          <p:nvPr userDrawn="1"/>
        </p:nvSpPr>
        <p:spPr>
          <a:xfrm>
            <a:off x="-2249" y="3429000"/>
            <a:ext cx="10541911" cy="0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sz="1200"/>
          </a:p>
        </p:txBody>
      </p:sp>
      <p:sp>
        <p:nvSpPr>
          <p:cNvPr id="23" name="Shape 93">
            <a:extLst>
              <a:ext uri="{FF2B5EF4-FFF2-40B4-BE49-F238E27FC236}">
                <a16:creationId xmlns:a16="http://schemas.microsoft.com/office/drawing/2014/main" id="{54F2FD45-6B0F-F14E-95CD-49246C87251A}"/>
              </a:ext>
            </a:extLst>
          </p:cNvPr>
          <p:cNvSpPr/>
          <p:nvPr userDrawn="1"/>
        </p:nvSpPr>
        <p:spPr>
          <a:xfrm>
            <a:off x="10682896" y="3429001"/>
            <a:ext cx="1509104" cy="0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sz="120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B8DA63B-4A46-624A-8F60-42AFF4A43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4707" y="3074458"/>
            <a:ext cx="7468072" cy="70908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0" lang="en-GB"/>
              <a:t>Development Methodology</a:t>
            </a:r>
            <a:endParaRPr kumimoji="0" lang="en-US"/>
          </a:p>
        </p:txBody>
      </p:sp>
      <p:sp>
        <p:nvSpPr>
          <p:cNvPr id="25" name="Shape 95">
            <a:extLst>
              <a:ext uri="{FF2B5EF4-FFF2-40B4-BE49-F238E27FC236}">
                <a16:creationId xmlns:a16="http://schemas.microsoft.com/office/drawing/2014/main" id="{CE016859-FB92-BE4A-9094-120574D8885C}"/>
              </a:ext>
            </a:extLst>
          </p:cNvPr>
          <p:cNvSpPr>
            <a:spLocks/>
          </p:cNvSpPr>
          <p:nvPr userDrawn="1"/>
        </p:nvSpPr>
        <p:spPr>
          <a:xfrm>
            <a:off x="811571" y="2635872"/>
            <a:ext cx="1586253" cy="15862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D87C43"/>
            </a:solidFill>
            <a:miter lim="400000"/>
          </a:ln>
        </p:spPr>
        <p:txBody>
          <a:bodyPr lIns="0" tIns="0" rIns="0" bIns="0" anchor="ctr"/>
          <a:lstStyle/>
          <a:p>
            <a:pPr lvl="0"/>
            <a:endParaRPr sz="1800"/>
          </a:p>
        </p:txBody>
      </p:sp>
      <p:sp>
        <p:nvSpPr>
          <p:cNvPr id="26" name="Shape 96">
            <a:extLst>
              <a:ext uri="{FF2B5EF4-FFF2-40B4-BE49-F238E27FC236}">
                <a16:creationId xmlns:a16="http://schemas.microsoft.com/office/drawing/2014/main" id="{CFD8A23A-EAD0-CE41-B20B-D06B7BCFCDEE}"/>
              </a:ext>
            </a:extLst>
          </p:cNvPr>
          <p:cNvSpPr/>
          <p:nvPr userDrawn="1"/>
        </p:nvSpPr>
        <p:spPr>
          <a:xfrm rot="16200000">
            <a:off x="877903" y="2702207"/>
            <a:ext cx="1453588" cy="1453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2D81AF"/>
          </a:solidFill>
          <a:ln w="12700" cap="flat">
            <a:solidFill>
              <a:srgbClr val="E8E7E3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16" name="Graphic 15" descr="Circles with arrows">
            <a:extLst>
              <a:ext uri="{FF2B5EF4-FFF2-40B4-BE49-F238E27FC236}">
                <a16:creationId xmlns:a16="http://schemas.microsoft.com/office/drawing/2014/main" id="{F9C47D91-F0EE-DC4D-8A8B-660F146EEE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9184" y="2803486"/>
            <a:ext cx="1251027" cy="12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89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ccess St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92">
            <a:extLst>
              <a:ext uri="{FF2B5EF4-FFF2-40B4-BE49-F238E27FC236}">
                <a16:creationId xmlns:a16="http://schemas.microsoft.com/office/drawing/2014/main" id="{231F6502-A710-D148-94E0-A61624069697}"/>
              </a:ext>
            </a:extLst>
          </p:cNvPr>
          <p:cNvSpPr/>
          <p:nvPr userDrawn="1"/>
        </p:nvSpPr>
        <p:spPr>
          <a:xfrm>
            <a:off x="-2249" y="3429000"/>
            <a:ext cx="10541911" cy="0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sz="1200"/>
          </a:p>
        </p:txBody>
      </p:sp>
      <p:sp>
        <p:nvSpPr>
          <p:cNvPr id="7" name="Shape 93">
            <a:extLst>
              <a:ext uri="{FF2B5EF4-FFF2-40B4-BE49-F238E27FC236}">
                <a16:creationId xmlns:a16="http://schemas.microsoft.com/office/drawing/2014/main" id="{25F8B4E7-DCB7-1B44-8166-315DA9EB86E4}"/>
              </a:ext>
            </a:extLst>
          </p:cNvPr>
          <p:cNvSpPr/>
          <p:nvPr userDrawn="1"/>
        </p:nvSpPr>
        <p:spPr>
          <a:xfrm>
            <a:off x="10682896" y="3429000"/>
            <a:ext cx="1509104" cy="0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sz="12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8791363-8FF4-8B46-B290-C15508BD3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4707" y="3074458"/>
            <a:ext cx="7468072" cy="70908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0" lang="en-GB"/>
              <a:t>Success Stories</a:t>
            </a:r>
            <a:endParaRPr kumimoji="0" lang="en-US"/>
          </a:p>
        </p:txBody>
      </p:sp>
      <p:sp>
        <p:nvSpPr>
          <p:cNvPr id="14" name="Shape 95">
            <a:extLst>
              <a:ext uri="{FF2B5EF4-FFF2-40B4-BE49-F238E27FC236}">
                <a16:creationId xmlns:a16="http://schemas.microsoft.com/office/drawing/2014/main" id="{5F7CCD18-D617-124E-AB52-AB725B6B0654}"/>
              </a:ext>
            </a:extLst>
          </p:cNvPr>
          <p:cNvSpPr>
            <a:spLocks/>
          </p:cNvSpPr>
          <p:nvPr userDrawn="1"/>
        </p:nvSpPr>
        <p:spPr>
          <a:xfrm>
            <a:off x="811571" y="2635872"/>
            <a:ext cx="1586253" cy="15862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D81AF"/>
            </a:solidFill>
            <a:miter lim="400000"/>
          </a:ln>
        </p:spPr>
        <p:txBody>
          <a:bodyPr lIns="0" tIns="0" rIns="0" bIns="0" anchor="ctr"/>
          <a:lstStyle/>
          <a:p>
            <a:pPr lvl="0"/>
            <a:endParaRPr sz="1800"/>
          </a:p>
        </p:txBody>
      </p:sp>
      <p:sp>
        <p:nvSpPr>
          <p:cNvPr id="15" name="Shape 96">
            <a:extLst>
              <a:ext uri="{FF2B5EF4-FFF2-40B4-BE49-F238E27FC236}">
                <a16:creationId xmlns:a16="http://schemas.microsoft.com/office/drawing/2014/main" id="{BCA5CFF6-0126-A74B-8010-6A76C42E13AC}"/>
              </a:ext>
            </a:extLst>
          </p:cNvPr>
          <p:cNvSpPr/>
          <p:nvPr userDrawn="1"/>
        </p:nvSpPr>
        <p:spPr>
          <a:xfrm rot="16200000">
            <a:off x="877903" y="2702207"/>
            <a:ext cx="1453588" cy="1453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D87C43"/>
          </a:solidFill>
          <a:ln w="12700" cap="flat">
            <a:solidFill>
              <a:srgbClr val="E8E7E3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76C76CD-0210-3D4D-9766-E772CF252A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2700" y="3094152"/>
            <a:ext cx="723994" cy="66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92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967CF2-2FAE-0149-A8BA-F767D4293EC8}"/>
              </a:ext>
            </a:extLst>
          </p:cNvPr>
          <p:cNvSpPr/>
          <p:nvPr userDrawn="1"/>
        </p:nvSpPr>
        <p:spPr>
          <a:xfrm>
            <a:off x="0" y="3086402"/>
            <a:ext cx="12192000" cy="855214"/>
          </a:xfrm>
          <a:prstGeom prst="rect">
            <a:avLst/>
          </a:prstGeom>
          <a:solidFill>
            <a:srgbClr val="2D8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127668-BD6C-8A49-8E6C-DBD99FCFC6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4453" y="3159467"/>
            <a:ext cx="4843094" cy="70908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0" lang="en-GB"/>
              <a:t>Thank you</a:t>
            </a:r>
            <a:endParaRPr kumimoji="0"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63C6E7-5FB2-3D41-B918-D0BD1F7342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62724" y="4777574"/>
            <a:ext cx="2256558" cy="4248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FEDF064-7B91-7B41-B23E-28E7DC201FF7}"/>
              </a:ext>
            </a:extLst>
          </p:cNvPr>
          <p:cNvGrpSpPr/>
          <p:nvPr userDrawn="1"/>
        </p:nvGrpSpPr>
        <p:grpSpPr>
          <a:xfrm>
            <a:off x="4607648" y="5619435"/>
            <a:ext cx="2966711" cy="397196"/>
            <a:chOff x="4492242" y="5497515"/>
            <a:chExt cx="2966711" cy="397196"/>
          </a:xfrm>
        </p:grpSpPr>
        <p:pic>
          <p:nvPicPr>
            <p:cNvPr id="9" name="Graphic 8">
              <a:hlinkClick r:id="rId3"/>
              <a:extLst>
                <a:ext uri="{FF2B5EF4-FFF2-40B4-BE49-F238E27FC236}">
                  <a16:creationId xmlns:a16="http://schemas.microsoft.com/office/drawing/2014/main" id="{7630A6B2-AE53-134F-9646-70036B587B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77522" y="5497515"/>
              <a:ext cx="397195" cy="397195"/>
            </a:xfrm>
            <a:prstGeom prst="rect">
              <a:avLst/>
            </a:prstGeom>
          </p:spPr>
        </p:pic>
        <p:pic>
          <p:nvPicPr>
            <p:cNvPr id="10" name="Graphic 9">
              <a:hlinkClick r:id="rId5"/>
              <a:extLst>
                <a:ext uri="{FF2B5EF4-FFF2-40B4-BE49-F238E27FC236}">
                  <a16:creationId xmlns:a16="http://schemas.microsoft.com/office/drawing/2014/main" id="{31F11784-7466-A545-AF75-9B56815679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92242" y="5497515"/>
              <a:ext cx="397195" cy="397195"/>
            </a:xfrm>
            <a:prstGeom prst="rect">
              <a:avLst/>
            </a:prstGeom>
          </p:spPr>
        </p:pic>
        <p:pic>
          <p:nvPicPr>
            <p:cNvPr id="11" name="Graphic 10">
              <a:hlinkClick r:id="rId7"/>
              <a:extLst>
                <a:ext uri="{FF2B5EF4-FFF2-40B4-BE49-F238E27FC236}">
                  <a16:creationId xmlns:a16="http://schemas.microsoft.com/office/drawing/2014/main" id="{DAA083A3-C6F0-7B45-AFF3-057A22E659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4882" y="5497515"/>
              <a:ext cx="397195" cy="397195"/>
            </a:xfrm>
            <a:prstGeom prst="rect">
              <a:avLst/>
            </a:prstGeom>
          </p:spPr>
        </p:pic>
        <p:pic>
          <p:nvPicPr>
            <p:cNvPr id="12" name="Graphic 11">
              <a:hlinkClick r:id="rId9"/>
              <a:extLst>
                <a:ext uri="{FF2B5EF4-FFF2-40B4-BE49-F238E27FC236}">
                  <a16:creationId xmlns:a16="http://schemas.microsoft.com/office/drawing/2014/main" id="{CE1EDEB7-9406-0440-98D5-6B8F55D030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61759" y="5497517"/>
              <a:ext cx="397194" cy="397194"/>
            </a:xfrm>
            <a:prstGeom prst="rect">
              <a:avLst/>
            </a:prstGeom>
          </p:spPr>
        </p:pic>
        <p:pic>
          <p:nvPicPr>
            <p:cNvPr id="13" name="Graphic 12">
              <a:hlinkClick r:id="rId11"/>
              <a:extLst>
                <a:ext uri="{FF2B5EF4-FFF2-40B4-BE49-F238E27FC236}">
                  <a16:creationId xmlns:a16="http://schemas.microsoft.com/office/drawing/2014/main" id="{4DBA0AA4-B85F-F549-BA92-F04A1DB2A5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420162" y="5498235"/>
              <a:ext cx="396153" cy="396153"/>
            </a:xfrm>
            <a:prstGeom prst="rect">
              <a:avLst/>
            </a:prstGeom>
          </p:spPr>
        </p:pic>
      </p:grpSp>
      <p:sp>
        <p:nvSpPr>
          <p:cNvPr id="14" name="Los Angeles  |  Silicon Valley  |  Seattle  |  V2Solutions.com">
            <a:extLst>
              <a:ext uri="{FF2B5EF4-FFF2-40B4-BE49-F238E27FC236}">
                <a16:creationId xmlns:a16="http://schemas.microsoft.com/office/drawing/2014/main" id="{2DBB94F2-F017-4DC1-A531-0992A13FD370}"/>
              </a:ext>
            </a:extLst>
          </p:cNvPr>
          <p:cNvSpPr/>
          <p:nvPr userDrawn="1"/>
        </p:nvSpPr>
        <p:spPr>
          <a:xfrm>
            <a:off x="3847751" y="6196778"/>
            <a:ext cx="4486505" cy="192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>
            <a:spAutoFit/>
          </a:bodyPr>
          <a:lstStyle/>
          <a:p>
            <a:pPr lvl="0" algn="ctr" defTabSz="914377"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IN" sz="1000" kern="1200">
                <a:solidFill>
                  <a:srgbClr val="494342"/>
                </a:solidFill>
                <a:latin typeface="+mn-lt"/>
                <a:ea typeface="Helvetica Neue"/>
                <a:cs typeface="Calibri" panose="020F0502020204030204" pitchFamily="34" charset="0"/>
                <a:sym typeface="Helvetica Neue"/>
              </a:rPr>
              <a:t>Silicon Valley</a:t>
            </a:r>
            <a:r>
              <a:rPr lang="en-IN" sz="1000">
                <a:solidFill>
                  <a:srgbClr val="494342"/>
                </a:solidFill>
                <a:latin typeface="+mn-lt"/>
                <a:cs typeface="Calibri" panose="020F0502020204030204" pitchFamily="34" charset="0"/>
                <a:sym typeface="Helvetica Neue"/>
              </a:rPr>
              <a:t>  |  Los Angeles  </a:t>
            </a:r>
            <a:r>
              <a:rPr lang="en-IN" sz="1000">
                <a:solidFill>
                  <a:srgbClr val="494342"/>
                </a:solidFill>
                <a:latin typeface="+mn-lt"/>
                <a:ea typeface="Helvetica Neue Light"/>
                <a:cs typeface="Calibri" panose="020F0502020204030204" pitchFamily="34" charset="0"/>
                <a:sym typeface="Helvetica Neue Light"/>
              </a:rPr>
              <a:t>|</a:t>
            </a:r>
            <a:r>
              <a:rPr lang="en-IN" sz="1000">
                <a:solidFill>
                  <a:srgbClr val="494342"/>
                </a:solidFill>
                <a:latin typeface="+mn-lt"/>
                <a:cs typeface="Calibri" panose="020F0502020204030204" pitchFamily="34" charset="0"/>
                <a:sym typeface="Helvetica Neue"/>
              </a:rPr>
              <a:t>   Chicago  </a:t>
            </a:r>
            <a:r>
              <a:rPr lang="en-IN" sz="1000">
                <a:solidFill>
                  <a:srgbClr val="494342"/>
                </a:solidFill>
                <a:latin typeface="+mn-lt"/>
                <a:ea typeface="Helvetica Neue"/>
                <a:cs typeface="Calibri" panose="020F0502020204030204" pitchFamily="34" charset="0"/>
                <a:sym typeface="Helvetica Neue Light"/>
              </a:rPr>
              <a:t>|  New York  |  Mumbai</a:t>
            </a:r>
          </a:p>
        </p:txBody>
      </p:sp>
    </p:spTree>
    <p:extLst>
      <p:ext uri="{BB962C8B-B14F-4D97-AF65-F5344CB8AC3E}">
        <p14:creationId xmlns:p14="http://schemas.microsoft.com/office/powerpoint/2010/main" val="3627003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827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676AAEE-12E1-A940-8323-1B650D3648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735" y="5627853"/>
            <a:ext cx="241905" cy="2127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1684B4-BCF2-B649-9D4A-DFC6B778CA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044" y="5627853"/>
            <a:ext cx="241905" cy="2127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075446-CCF6-BD46-9A51-B624F0D079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044" y="6118196"/>
            <a:ext cx="241905" cy="212745"/>
          </a:xfrm>
          <a:prstGeom prst="rect">
            <a:avLst/>
          </a:prstGeom>
        </p:spPr>
      </p:pic>
      <p:pic>
        <p:nvPicPr>
          <p:cNvPr id="17" name="Picture 2" descr="Image result for twitter transparent logo">
            <a:extLst>
              <a:ext uri="{FF2B5EF4-FFF2-40B4-BE49-F238E27FC236}">
                <a16:creationId xmlns:a16="http://schemas.microsoft.com/office/drawing/2014/main" id="{E191F80A-4445-0547-988C-56D6E308D4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267" y="6091603"/>
            <a:ext cx="302381" cy="2659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2221409-A09F-EF4C-9031-AFB5073B81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7482054" y="5004867"/>
            <a:ext cx="3991379" cy="340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Vijay Shah | CEO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32977B-B0BD-0347-8406-86663C341A91}"/>
              </a:ext>
            </a:extLst>
          </p:cNvPr>
          <p:cNvSpPr/>
          <p:nvPr userDrawn="1"/>
        </p:nvSpPr>
        <p:spPr>
          <a:xfrm>
            <a:off x="0" y="3086402"/>
            <a:ext cx="12192000" cy="855214"/>
          </a:xfrm>
          <a:prstGeom prst="rect">
            <a:avLst/>
          </a:prstGeom>
          <a:solidFill>
            <a:srgbClr val="2D8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34F6C6D-142D-9C46-B2AB-A0ABEEC7C7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4453" y="3159467"/>
            <a:ext cx="4843094" cy="70908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0" lang="en-GB"/>
              <a:t>Thank you</a:t>
            </a:r>
            <a:endParaRPr kumimoji="0"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02DE9B-47A5-4012-BA42-04CC5D56C2AC}"/>
              </a:ext>
            </a:extLst>
          </p:cNvPr>
          <p:cNvGrpSpPr/>
          <p:nvPr userDrawn="1"/>
        </p:nvGrpSpPr>
        <p:grpSpPr>
          <a:xfrm>
            <a:off x="737355" y="5004867"/>
            <a:ext cx="4486505" cy="1331794"/>
            <a:chOff x="737355" y="5004867"/>
            <a:chExt cx="4486505" cy="1331794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E5F6EF04-E9F3-C647-BB7C-727E83D99D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737355" y="5004867"/>
              <a:ext cx="1794188" cy="337818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CF749BA-798C-D24A-AE01-0ACEAA9985BF}"/>
                </a:ext>
              </a:extLst>
            </p:cNvPr>
            <p:cNvGrpSpPr/>
            <p:nvPr userDrawn="1"/>
          </p:nvGrpSpPr>
          <p:grpSpPr>
            <a:xfrm>
              <a:off x="737355" y="5599218"/>
              <a:ext cx="2966711" cy="397196"/>
              <a:chOff x="709645" y="5558475"/>
              <a:chExt cx="2966711" cy="397196"/>
            </a:xfrm>
          </p:grpSpPr>
          <p:pic>
            <p:nvPicPr>
              <p:cNvPr id="22" name="Graphic 21">
                <a:hlinkClick r:id="rId7"/>
                <a:extLst>
                  <a:ext uri="{FF2B5EF4-FFF2-40B4-BE49-F238E27FC236}">
                    <a16:creationId xmlns:a16="http://schemas.microsoft.com/office/drawing/2014/main" id="{AE5C3916-73F0-6149-9DED-4D9454AF6E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99492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3" name="Graphic 22">
                <a:hlinkClick r:id="rId9"/>
                <a:extLst>
                  <a:ext uri="{FF2B5EF4-FFF2-40B4-BE49-F238E27FC236}">
                    <a16:creationId xmlns:a16="http://schemas.microsoft.com/office/drawing/2014/main" id="{57C57712-C1CA-3843-8ED9-0607232B96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0964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4" name="Graphic 23">
                <a:hlinkClick r:id="rId11"/>
                <a:extLst>
                  <a:ext uri="{FF2B5EF4-FFF2-40B4-BE49-F238E27FC236}">
                    <a16:creationId xmlns:a16="http://schemas.microsoft.com/office/drawing/2014/main" id="{3AC543C3-039B-D047-9238-CFC1BE0157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5228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5" name="Graphic 24">
                <a:hlinkClick r:id="rId13"/>
                <a:extLst>
                  <a:ext uri="{FF2B5EF4-FFF2-40B4-BE49-F238E27FC236}">
                    <a16:creationId xmlns:a16="http://schemas.microsoft.com/office/drawing/2014/main" id="{5BA02697-A3BD-EC43-8FBA-12D49BD6B1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279162" y="5558477"/>
                <a:ext cx="397194" cy="397194"/>
              </a:xfrm>
              <a:prstGeom prst="rect">
                <a:avLst/>
              </a:prstGeom>
            </p:spPr>
          </p:pic>
          <p:pic>
            <p:nvPicPr>
              <p:cNvPr id="26" name="Graphic 25">
                <a:hlinkClick r:id="rId15"/>
                <a:extLst>
                  <a:ext uri="{FF2B5EF4-FFF2-40B4-BE49-F238E27FC236}">
                    <a16:creationId xmlns:a16="http://schemas.microsoft.com/office/drawing/2014/main" id="{4E6E8227-211A-CB40-AF80-4B3260954F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637565" y="5559195"/>
                <a:ext cx="396153" cy="396153"/>
              </a:xfrm>
              <a:prstGeom prst="rect">
                <a:avLst/>
              </a:prstGeom>
            </p:spPr>
          </p:pic>
        </p:grpSp>
        <p:sp>
          <p:nvSpPr>
            <p:cNvPr id="27" name="Los Angeles  |  Silicon Valley  |  Seattle  |  V2Solutions.com">
              <a:extLst>
                <a:ext uri="{FF2B5EF4-FFF2-40B4-BE49-F238E27FC236}">
                  <a16:creationId xmlns:a16="http://schemas.microsoft.com/office/drawing/2014/main" id="{52B3DACE-E829-43E4-87A9-7F1815BC7F5C}"/>
                </a:ext>
              </a:extLst>
            </p:cNvPr>
            <p:cNvSpPr/>
            <p:nvPr userDrawn="1"/>
          </p:nvSpPr>
          <p:spPr>
            <a:xfrm>
              <a:off x="737355" y="6144301"/>
              <a:ext cx="4486505" cy="1923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19050" tIns="19050" rIns="19050" bIns="19050">
              <a:spAutoFit/>
            </a:bodyPr>
            <a:lstStyle/>
            <a:p>
              <a:pPr lvl="0" algn="l" defTabSz="914377">
                <a:defRPr sz="48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IN" sz="1000" kern="12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"/>
                </a:rPr>
                <a:t>Silicon Valley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|  Los Angeles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 Light"/>
                  <a:cs typeface="Calibri" panose="020F0502020204030204" pitchFamily="34" charset="0"/>
                  <a:sym typeface="Helvetica Neue Light"/>
                </a:rPr>
                <a:t>|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 Chicago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 Light"/>
                </a:rPr>
                <a:t>|  New York  |  Mumbai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93938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1D43635-DFFC-234D-BA03-249AD3AF4DEE}"/>
              </a:ext>
            </a:extLst>
          </p:cNvPr>
          <p:cNvSpPr>
            <a:spLocks/>
          </p:cNvSpPr>
          <p:nvPr userDrawn="1"/>
        </p:nvSpPr>
        <p:spPr>
          <a:xfrm flipV="1">
            <a:off x="-152895" y="-13855"/>
            <a:ext cx="6259188" cy="6922899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28067"/>
              <a:gd name="connsiteX1" fmla="*/ 4668252 w 4668252"/>
              <a:gd name="connsiteY1" fmla="*/ 0 h 6928067"/>
              <a:gd name="connsiteX2" fmla="*/ 2502568 w 4668252"/>
              <a:gd name="connsiteY2" fmla="*/ 6914147 h 6928067"/>
              <a:gd name="connsiteX3" fmla="*/ 1201937 w 4668252"/>
              <a:gd name="connsiteY3" fmla="*/ 6928067 h 6928067"/>
              <a:gd name="connsiteX4" fmla="*/ 0 w 4668252"/>
              <a:gd name="connsiteY4" fmla="*/ 731 h 6928067"/>
              <a:gd name="connsiteX0" fmla="*/ 0 w 3473970"/>
              <a:gd name="connsiteY0" fmla="*/ 0 h 6955174"/>
              <a:gd name="connsiteX1" fmla="*/ 3473970 w 3473970"/>
              <a:gd name="connsiteY1" fmla="*/ 27107 h 6955174"/>
              <a:gd name="connsiteX2" fmla="*/ 1308286 w 3473970"/>
              <a:gd name="connsiteY2" fmla="*/ 6941254 h 6955174"/>
              <a:gd name="connsiteX3" fmla="*/ 7655 w 3473970"/>
              <a:gd name="connsiteY3" fmla="*/ 6955174 h 6955174"/>
              <a:gd name="connsiteX4" fmla="*/ 0 w 3473970"/>
              <a:gd name="connsiteY4" fmla="*/ 0 h 6955174"/>
              <a:gd name="connsiteX0" fmla="*/ 0 w 3458659"/>
              <a:gd name="connsiteY0" fmla="*/ 0 h 6955174"/>
              <a:gd name="connsiteX1" fmla="*/ 3458659 w 3458659"/>
              <a:gd name="connsiteY1" fmla="*/ 27107 h 6955174"/>
              <a:gd name="connsiteX2" fmla="*/ 1308286 w 3458659"/>
              <a:gd name="connsiteY2" fmla="*/ 6941254 h 6955174"/>
              <a:gd name="connsiteX3" fmla="*/ 7655 w 3458659"/>
              <a:gd name="connsiteY3" fmla="*/ 6955174 h 6955174"/>
              <a:gd name="connsiteX4" fmla="*/ 0 w 3458659"/>
              <a:gd name="connsiteY4" fmla="*/ 0 h 6955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8659" h="6955174">
                <a:moveTo>
                  <a:pt x="0" y="0"/>
                </a:moveTo>
                <a:lnTo>
                  <a:pt x="3458659" y="27107"/>
                </a:lnTo>
                <a:lnTo>
                  <a:pt x="1308286" y="6941254"/>
                </a:lnTo>
                <a:lnTo>
                  <a:pt x="7655" y="6955174"/>
                </a:lnTo>
                <a:cubicBezTo>
                  <a:pt x="5103" y="4636783"/>
                  <a:pt x="2552" y="2318391"/>
                  <a:pt x="0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56230E8D-DA0D-4B44-9875-9750735F6FDD}"/>
              </a:ext>
            </a:extLst>
          </p:cNvPr>
          <p:cNvSpPr/>
          <p:nvPr userDrawn="1"/>
        </p:nvSpPr>
        <p:spPr>
          <a:xfrm>
            <a:off x="-164514" y="-25819"/>
            <a:ext cx="8477238" cy="6909638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84293"/>
              <a:gd name="connsiteY0" fmla="*/ 0 h 6941851"/>
              <a:gd name="connsiteX1" fmla="*/ 4684293 w 4684293"/>
              <a:gd name="connsiteY1" fmla="*/ 27704 h 6941851"/>
              <a:gd name="connsiteX2" fmla="*/ 2518609 w 4684293"/>
              <a:gd name="connsiteY2" fmla="*/ 6941851 h 6941851"/>
              <a:gd name="connsiteX3" fmla="*/ 16041 w 4684293"/>
              <a:gd name="connsiteY3" fmla="*/ 6941851 h 6941851"/>
              <a:gd name="connsiteX4" fmla="*/ 0 w 4684293"/>
              <a:gd name="connsiteY4" fmla="*/ 0 h 694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4293" h="6941851">
                <a:moveTo>
                  <a:pt x="0" y="0"/>
                </a:moveTo>
                <a:lnTo>
                  <a:pt x="4684293" y="27704"/>
                </a:lnTo>
                <a:lnTo>
                  <a:pt x="2518609" y="6941851"/>
                </a:lnTo>
                <a:lnTo>
                  <a:pt x="16041" y="6941851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-25000"/>
                      </a14:imgEffect>
                    </a14:imgLayer>
                  </a14:imgProps>
                </a:ext>
              </a:extLst>
            </a:blip>
            <a:srcRect/>
            <a:stretch>
              <a:fillRect l="-17000" t="-3000" r="-13000" b="-1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B7EB7A8-6953-3044-A51D-10FB74A5D425}"/>
              </a:ext>
            </a:extLst>
          </p:cNvPr>
          <p:cNvSpPr/>
          <p:nvPr userDrawn="1"/>
        </p:nvSpPr>
        <p:spPr>
          <a:xfrm flipV="1">
            <a:off x="11629580" y="4375336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23">
            <a:extLst>
              <a:ext uri="{FF2B5EF4-FFF2-40B4-BE49-F238E27FC236}">
                <a16:creationId xmlns:a16="http://schemas.microsoft.com/office/drawing/2014/main" id="{A30B90DE-11D6-6948-8A50-C0E3CD1897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7912" y="4112655"/>
            <a:ext cx="5511669" cy="769004"/>
          </a:xfrm>
        </p:spPr>
        <p:txBody>
          <a:bodyPr>
            <a:noAutofit/>
          </a:bodyPr>
          <a:lstStyle>
            <a:lvl1pPr algn="ctr">
              <a:lnSpc>
                <a:spcPct val="120000"/>
              </a:lnSpc>
              <a:defRPr sz="2400"/>
            </a:lvl1pPr>
          </a:lstStyle>
          <a:p>
            <a:pPr algn="r" defTabSz="914377">
              <a:defRPr/>
            </a:pPr>
            <a:r>
              <a:rPr lang="en-US" sz="2400">
                <a:solidFill>
                  <a:srgbClr val="494342"/>
                </a:solidFill>
                <a:latin typeface="Century Gothic" panose="020B0502020202020204" pitchFamily="34" charset="0"/>
              </a:rPr>
              <a:t>An Enterprise with a Startup Mindset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89EF8B4-C6A3-2A49-B158-B991A4C64F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00937" y="2617001"/>
            <a:ext cx="3003475" cy="56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24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EFCE0E0-3AEA-BC41-AB79-F33160FD1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87448"/>
            <a:ext cx="11546840" cy="491823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kumimoji="0" lang="en-GB"/>
              <a:t>Click to edit Master text styles</a:t>
            </a:r>
          </a:p>
          <a:p>
            <a:pPr lvl="1"/>
            <a:r>
              <a:rPr kumimoji="0" lang="en-GB"/>
              <a:t>Second level</a:t>
            </a:r>
          </a:p>
          <a:p>
            <a:pPr lvl="2"/>
            <a:r>
              <a:rPr kumimoji="0" lang="en-GB"/>
              <a:t>Third level</a:t>
            </a:r>
          </a:p>
          <a:p>
            <a:pPr lvl="3"/>
            <a:r>
              <a:rPr kumimoji="0" lang="en-GB"/>
              <a:t>Fourth level</a:t>
            </a:r>
          </a:p>
          <a:p>
            <a:pPr lvl="4"/>
            <a:r>
              <a:rPr kumimoji="0" lang="en-GB"/>
              <a:t>Fifth level</a:t>
            </a:r>
            <a:endParaRPr kumimoji="0"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33B06D-FDBC-734D-81C5-C4805D9F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224ED0-2756-EC4F-827F-8D6DDEDB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34502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6DAF61-A359-C649-992A-B6C019406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601D5D-00DF-964D-9335-BC3035282D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400" y="1087449"/>
            <a:ext cx="11527589" cy="49182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r>
              <a:rPr lang="en-US" sz="2400"/>
              <a:t>One last note about constructing slides:  The placeholder boxes define the ideal margins.  This will help to convey a clear, concise message with each slide.  We want to avoid overloading slides with too much text and / or too many images.  V2 is organized and has a well-thought-out business plan–and that shows through with our collateral.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If everything doesn’t fit on a slide, consider breaking it into two, or reconsider some of the elements - perhaps they can be conveyed in a more succinct manner.</a:t>
            </a:r>
          </a:p>
          <a:p>
            <a:pPr lvl="0"/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B53315D-3996-2F43-B4E8-163BDB53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6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05A23-905A-E640-AA67-0A0B8926B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593699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CA34E3A-5229-8342-A77B-6B7858218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5297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2FFDBC2-64A1-7446-8DF2-00C763FAE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53621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118B505-A1EF-3F40-80CD-8CCDA32DC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9400" y="1087449"/>
            <a:ext cx="5626100" cy="49182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0E7A7B8D-D40C-F44E-8CE8-310194C2F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800" y="1087450"/>
            <a:ext cx="5626800" cy="49182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F2A2D25-E2CE-814F-A775-FA9623652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D4FB7F-2510-854C-A6EB-FA4651D47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15998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7B189-EBA3-4E42-84DD-07B1F23DB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400" y="1087449"/>
            <a:ext cx="5626100" cy="823912"/>
          </a:xfrm>
          <a:prstGeom prst="rect">
            <a:avLst/>
          </a:prstGeom>
          <a:solidFill>
            <a:srgbClr val="76B1CD"/>
          </a:solidFill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9875-69A8-E446-AE12-EF651A399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9400" y="2040556"/>
            <a:ext cx="5626100" cy="39651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697B6-B782-8847-A79F-80DB7B312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3800" y="1087449"/>
            <a:ext cx="5626800" cy="823912"/>
          </a:xfrm>
          <a:prstGeom prst="rect">
            <a:avLst/>
          </a:prstGeom>
          <a:solidFill>
            <a:srgbClr val="FBB03B"/>
          </a:solidFill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EBE2D-5723-AC4A-9046-6DE8712C2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800" y="2040556"/>
            <a:ext cx="5626800" cy="39651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8B7A9DC-5786-5742-912C-8E7F0B5D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5CD87C2-C59B-974D-AC25-339741708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662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51ED3-BF94-2540-AB51-49E98782C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400" y="2274104"/>
            <a:ext cx="4442619" cy="373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EE49065-ABB2-CA49-A794-AE8B610A9F33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79400" y="1084067"/>
            <a:ext cx="4442619" cy="9937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08A16B-7E46-124A-9B69-0C029ECF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32" y="1084066"/>
            <a:ext cx="6969600" cy="492500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F514F4-7361-2140-85D1-2C3F403A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CD281-421D-E249-AF74-E22532C27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32266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2087B-07A5-3540-B012-AFE1DC6DB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53000" y="1084067"/>
            <a:ext cx="6969600" cy="49250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4FEF35-72E0-2D46-A5E2-CA69F769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046F2-61AD-F946-805D-7FC52D0F8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D9D44D8-D90F-3242-A871-C5AC71375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400" y="2274104"/>
            <a:ext cx="4442619" cy="373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AEAE52-9047-554F-B1EB-6B327AFB9CF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79400" y="1084067"/>
            <a:ext cx="4442619" cy="9937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2155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9ECB5C-47DB-5C4F-A482-978DFA02E11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87911" y="1084066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3DF4A86-459B-3047-8D9F-5752392D58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9400" y="1084263"/>
            <a:ext cx="5817600" cy="4924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25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ie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pic>
        <p:nvPicPr>
          <p:cNvPr id="18" name="image79.png">
            <a:extLst>
              <a:ext uri="{FF2B5EF4-FFF2-40B4-BE49-F238E27FC236}">
                <a16:creationId xmlns:a16="http://schemas.microsoft.com/office/drawing/2014/main" id="{550996B1-246B-8542-9695-0703E1295B16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778" y="1122773"/>
            <a:ext cx="45720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80.png">
            <a:extLst>
              <a:ext uri="{FF2B5EF4-FFF2-40B4-BE49-F238E27FC236}">
                <a16:creationId xmlns:a16="http://schemas.microsoft.com/office/drawing/2014/main" id="{5FEE9EE6-19BE-CE42-BADC-34643CB238EB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778" y="2221764"/>
            <a:ext cx="4572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E314F7D5-868E-2A40-B2F5-4E504E7F1F7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280800" y="1072442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A957F73F-5940-3742-9C9A-34022585DE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7106" y="1122773"/>
            <a:ext cx="4984094" cy="281937"/>
          </a:xfrm>
        </p:spPr>
        <p:txBody>
          <a:bodyPr wrap="square" anchor="t" anchorCtr="0">
            <a:spAutoFit/>
          </a:bodyPr>
          <a:lstStyle>
            <a:lvl1pPr marL="14288" indent="0">
              <a:buFontTx/>
              <a:buNone/>
              <a:tabLst/>
              <a:defRPr sz="1200"/>
            </a:lvl1pPr>
          </a:lstStyle>
          <a:p>
            <a:pPr lvl="0" indent="0">
              <a:buClrTx/>
              <a:buSzTx/>
            </a:pPr>
            <a:endParaRPr lang="en-US" sz="1100">
              <a:solidFill>
                <a:prstClr val="black">
                  <a:lumMod val="75000"/>
                  <a:lumOff val="25000"/>
                </a:prstClr>
              </a:solidFill>
              <a:cs typeface="Calibri" panose="020F0502020204030204" pitchFamily="34" charset="0"/>
            </a:endParaRPr>
          </a:p>
        </p:txBody>
      </p:sp>
      <p:sp>
        <p:nvSpPr>
          <p:cNvPr id="38" name="Content Placeholder 30">
            <a:extLst>
              <a:ext uri="{FF2B5EF4-FFF2-40B4-BE49-F238E27FC236}">
                <a16:creationId xmlns:a16="http://schemas.microsoft.com/office/drawing/2014/main" id="{2BCDAFE4-9FD7-E445-8A3C-EA147CD5B46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927105" y="2221764"/>
            <a:ext cx="4940032" cy="297783"/>
          </a:xfrm>
          <a:ln w="12700">
            <a:miter lim="400000"/>
          </a:ln>
        </p:spPr>
        <p:txBody>
          <a:bodyPr wrap="square" lIns="35717" tIns="35717" rIns="35717" bIns="35717" anchor="t" anchorCtr="0">
            <a:spAutoFit/>
          </a:bodyPr>
          <a:lstStyle/>
          <a:p>
            <a:pPr marL="171450" indent="-171450">
              <a:lnSpc>
                <a:spcPct val="114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endParaRPr lang="en-US" sz="1200" kern="0"/>
          </a:p>
        </p:txBody>
      </p:sp>
    </p:spTree>
    <p:extLst>
      <p:ext uri="{BB962C8B-B14F-4D97-AF65-F5344CB8AC3E}">
        <p14:creationId xmlns:p14="http://schemas.microsoft.com/office/powerpoint/2010/main" val="5672701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ie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9ECB5C-47DB-5C4F-A482-978DFA02E11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87911" y="1084066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6" name="image79.png">
            <a:extLst>
              <a:ext uri="{FF2B5EF4-FFF2-40B4-BE49-F238E27FC236}">
                <a16:creationId xmlns:a16="http://schemas.microsoft.com/office/drawing/2014/main" id="{EDFF5F80-A005-2048-A7ED-E7EF7157C0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800" y="1084066"/>
            <a:ext cx="45720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image80.png">
            <a:extLst>
              <a:ext uri="{FF2B5EF4-FFF2-40B4-BE49-F238E27FC236}">
                <a16:creationId xmlns:a16="http://schemas.microsoft.com/office/drawing/2014/main" id="{98FC47F4-4BB4-8641-B506-E63B8C047BE9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800" y="2183057"/>
            <a:ext cx="4572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1FC5541B-FB3A-0740-B5E6-1EBAD0F057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995" y="1099110"/>
            <a:ext cx="4984094" cy="281937"/>
          </a:xfrm>
        </p:spPr>
        <p:txBody>
          <a:bodyPr wrap="square" anchor="t" anchorCtr="0">
            <a:spAutoFit/>
          </a:bodyPr>
          <a:lstStyle>
            <a:lvl1pPr marL="14288" indent="0">
              <a:buFontTx/>
              <a:buNone/>
              <a:tabLst/>
              <a:defRPr sz="1200"/>
            </a:lvl1pPr>
          </a:lstStyle>
          <a:p>
            <a:pPr lvl="0" indent="0">
              <a:buClrTx/>
              <a:buSzTx/>
            </a:pPr>
            <a:endParaRPr lang="en-US" sz="1100">
              <a:solidFill>
                <a:prstClr val="black">
                  <a:lumMod val="75000"/>
                  <a:lumOff val="25000"/>
                </a:prstClr>
              </a:solidFill>
              <a:cs typeface="Calibri" panose="020F0502020204030204" pitchFamily="34" charset="0"/>
            </a:endParaRPr>
          </a:p>
        </p:txBody>
      </p:sp>
      <p:sp>
        <p:nvSpPr>
          <p:cNvPr id="24" name="Content Placeholder 30">
            <a:extLst>
              <a:ext uri="{FF2B5EF4-FFF2-40B4-BE49-F238E27FC236}">
                <a16:creationId xmlns:a16="http://schemas.microsoft.com/office/drawing/2014/main" id="{F9261BF2-14FF-2147-A827-580B8A8221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9995" y="2198101"/>
            <a:ext cx="4940032" cy="297783"/>
          </a:xfrm>
          <a:ln w="12700">
            <a:miter lim="400000"/>
          </a:ln>
        </p:spPr>
        <p:txBody>
          <a:bodyPr wrap="square" lIns="35717" tIns="35717" rIns="35717" bIns="35717" anchor="t" anchorCtr="0">
            <a:spAutoFit/>
          </a:bodyPr>
          <a:lstStyle/>
          <a:p>
            <a:pPr marL="171450" indent="-171450">
              <a:lnSpc>
                <a:spcPct val="114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endParaRPr lang="en-US" sz="1200" kern="0"/>
          </a:p>
        </p:txBody>
      </p:sp>
    </p:spTree>
    <p:extLst>
      <p:ext uri="{BB962C8B-B14F-4D97-AF65-F5344CB8AC3E}">
        <p14:creationId xmlns:p14="http://schemas.microsoft.com/office/powerpoint/2010/main" val="1802800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BBDDCA0-B8E7-4449-A985-89799EEA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43E958-4ACC-F64A-AC90-962A06FE1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A9315FE-63CE-C144-B100-DB8EC435E7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9400" y="1084262"/>
            <a:ext cx="5623200" cy="492442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560FDD-615B-9C4C-99FD-A6941D957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084262"/>
            <a:ext cx="5817600" cy="4924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104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2087B-07A5-3540-B012-AFE1DC6DB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9311" y="1037591"/>
            <a:ext cx="3600000" cy="244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0AABD36-E5C7-DE40-B27A-1EA54B6AB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1780" y="1037591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70AFA6B-7B5B-E64A-A620-FFCFA437638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81780" y="3647973"/>
            <a:ext cx="3600000" cy="244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18C050B-6F68-0645-8AB6-804F3126641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256843" y="3648748"/>
            <a:ext cx="3600000" cy="244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DB7EEB-1596-1E48-BB91-12EBC9C901F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269311" y="3649927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E3F18EF-C1DC-9E48-AE8D-F53623F1B08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256843" y="1037591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E010537-A2F9-8F47-9A4E-DF6093978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C1F77B0-5594-4D48-9232-E9B4F1D25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60037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1A9B2EE1-6DD1-6140-956E-EE7FD7C2E1E9}"/>
              </a:ext>
            </a:extLst>
          </p:cNvPr>
          <p:cNvSpPr>
            <a:spLocks/>
          </p:cNvSpPr>
          <p:nvPr userDrawn="1"/>
        </p:nvSpPr>
        <p:spPr>
          <a:xfrm flipH="1" flipV="1">
            <a:off x="4990365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F7FFA60-17DE-8E49-AB1C-D92141DF4D0D}"/>
              </a:ext>
            </a:extLst>
          </p:cNvPr>
          <p:cNvSpPr/>
          <p:nvPr userDrawn="1"/>
        </p:nvSpPr>
        <p:spPr>
          <a:xfrm flipH="1">
            <a:off x="3742992" y="-24063"/>
            <a:ext cx="8448208" cy="6882063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252" h="6914147">
                <a:moveTo>
                  <a:pt x="0" y="16042"/>
                </a:moveTo>
                <a:lnTo>
                  <a:pt x="4668252" y="0"/>
                </a:lnTo>
                <a:lnTo>
                  <a:pt x="2502568" y="6914147"/>
                </a:lnTo>
                <a:lnTo>
                  <a:pt x="0" y="6914147"/>
                </a:lnTo>
                <a:lnTo>
                  <a:pt x="0" y="16042"/>
                </a:lnTo>
                <a:close/>
              </a:path>
            </a:pathLst>
          </a:cu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8000" r="-6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36C3522-9449-FB46-A655-E4C01C8A4F10}"/>
              </a:ext>
            </a:extLst>
          </p:cNvPr>
          <p:cNvSpPr/>
          <p:nvPr userDrawn="1"/>
        </p:nvSpPr>
        <p:spPr>
          <a:xfrm flipH="1">
            <a:off x="-107574" y="3239497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C4CC7782-E7A2-F747-A422-3FCBE4DBB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753" y="3018398"/>
            <a:ext cx="4818686" cy="769004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Project Solutions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B6028FF9-D112-8C4A-8815-84583921492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551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velopment 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DCA8B38E-2778-0E47-A03C-B454D56FBC4A}"/>
              </a:ext>
            </a:extLst>
          </p:cNvPr>
          <p:cNvSpPr>
            <a:spLocks/>
          </p:cNvSpPr>
          <p:nvPr userDrawn="1"/>
        </p:nvSpPr>
        <p:spPr>
          <a:xfrm flipV="1">
            <a:off x="-3667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B843445-0470-A641-8C76-08F1CEFD0BEB}"/>
              </a:ext>
            </a:extLst>
          </p:cNvPr>
          <p:cNvSpPr/>
          <p:nvPr userDrawn="1"/>
        </p:nvSpPr>
        <p:spPr>
          <a:xfrm>
            <a:off x="-29030" y="-27575"/>
            <a:ext cx="8477238" cy="6909638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84293"/>
              <a:gd name="connsiteY0" fmla="*/ 0 h 6941851"/>
              <a:gd name="connsiteX1" fmla="*/ 4684293 w 4684293"/>
              <a:gd name="connsiteY1" fmla="*/ 27704 h 6941851"/>
              <a:gd name="connsiteX2" fmla="*/ 2518609 w 4684293"/>
              <a:gd name="connsiteY2" fmla="*/ 6941851 h 6941851"/>
              <a:gd name="connsiteX3" fmla="*/ 16041 w 4684293"/>
              <a:gd name="connsiteY3" fmla="*/ 6941851 h 6941851"/>
              <a:gd name="connsiteX4" fmla="*/ 0 w 4684293"/>
              <a:gd name="connsiteY4" fmla="*/ 0 h 694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4293" h="6941851">
                <a:moveTo>
                  <a:pt x="0" y="0"/>
                </a:moveTo>
                <a:lnTo>
                  <a:pt x="4684293" y="27704"/>
                </a:lnTo>
                <a:lnTo>
                  <a:pt x="2518609" y="6941851"/>
                </a:lnTo>
                <a:lnTo>
                  <a:pt x="16041" y="6941851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7000" t="-3000" r="-10000" b="-1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9DD3E4D-A968-EF4E-92D5-C40FE8379830}"/>
              </a:ext>
            </a:extLst>
          </p:cNvPr>
          <p:cNvSpPr/>
          <p:nvPr userDrawn="1"/>
        </p:nvSpPr>
        <p:spPr>
          <a:xfrm flipV="1">
            <a:off x="11629580" y="3231728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CE59187C-A6CA-3349-9CFA-CA7CCCCBC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0988" y="2972469"/>
            <a:ext cx="5200645" cy="769004"/>
          </a:xfrm>
        </p:spPr>
        <p:txBody>
          <a:bodyPr>
            <a:noAutofit/>
          </a:bodyPr>
          <a:lstStyle>
            <a:lvl1pPr algn="r">
              <a:defRPr sz="2600"/>
            </a:lvl1pPr>
          </a:lstStyle>
          <a:p>
            <a:pPr algn="r"/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Development Methodology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936E7FCA-D207-CA47-BF33-85AC2A826037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652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ccess St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87ACF4C7-A805-5347-BB42-636B1CB771B3}"/>
              </a:ext>
            </a:extLst>
          </p:cNvPr>
          <p:cNvSpPr>
            <a:spLocks/>
          </p:cNvSpPr>
          <p:nvPr userDrawn="1"/>
        </p:nvSpPr>
        <p:spPr>
          <a:xfrm flipH="1" flipV="1">
            <a:off x="4990365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14090AB-B99B-EB42-A3AE-93C9ADC19D27}"/>
              </a:ext>
            </a:extLst>
          </p:cNvPr>
          <p:cNvSpPr>
            <a:spLocks/>
          </p:cNvSpPr>
          <p:nvPr userDrawn="1"/>
        </p:nvSpPr>
        <p:spPr>
          <a:xfrm flipH="1">
            <a:off x="3759558" y="-12032"/>
            <a:ext cx="8448208" cy="6882063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252" h="6914147">
                <a:moveTo>
                  <a:pt x="0" y="731"/>
                </a:moveTo>
                <a:lnTo>
                  <a:pt x="4668252" y="0"/>
                </a:lnTo>
                <a:lnTo>
                  <a:pt x="2502568" y="6914147"/>
                </a:lnTo>
                <a:lnTo>
                  <a:pt x="0" y="6914147"/>
                </a:lnTo>
                <a:lnTo>
                  <a:pt x="0" y="731"/>
                </a:lnTo>
                <a:close/>
              </a:path>
            </a:pathLst>
          </a:custGeom>
          <a:blipFill dpi="0" rotWithShape="0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0000" t="-18000" r="-32000" b="-2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D48B428-0AD9-1840-8F7E-058A14A6D4DA}"/>
              </a:ext>
            </a:extLst>
          </p:cNvPr>
          <p:cNvSpPr/>
          <p:nvPr userDrawn="1"/>
        </p:nvSpPr>
        <p:spPr>
          <a:xfrm flipH="1">
            <a:off x="-107574" y="3239497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D916373D-AEB5-3544-9156-5445BA4423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753" y="3018398"/>
            <a:ext cx="4818686" cy="769004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Success Stories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737E488D-DB0B-BC47-A15F-7B765BE5EBA7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466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you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2965ADC-071B-D74B-983E-86167BBB589A}"/>
              </a:ext>
            </a:extLst>
          </p:cNvPr>
          <p:cNvSpPr>
            <a:spLocks/>
          </p:cNvSpPr>
          <p:nvPr userDrawn="1"/>
        </p:nvSpPr>
        <p:spPr>
          <a:xfrm flipH="1" flipV="1">
            <a:off x="4990365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42AE56A-A6CA-B949-A2F2-8C9E61F66E38}"/>
              </a:ext>
            </a:extLst>
          </p:cNvPr>
          <p:cNvSpPr>
            <a:spLocks/>
          </p:cNvSpPr>
          <p:nvPr userDrawn="1"/>
        </p:nvSpPr>
        <p:spPr>
          <a:xfrm flipH="1">
            <a:off x="3759558" y="-12032"/>
            <a:ext cx="8448208" cy="6882063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252" h="6914147">
                <a:moveTo>
                  <a:pt x="0" y="731"/>
                </a:moveTo>
                <a:lnTo>
                  <a:pt x="4668252" y="0"/>
                </a:lnTo>
                <a:lnTo>
                  <a:pt x="2502568" y="6914147"/>
                </a:lnTo>
                <a:lnTo>
                  <a:pt x="0" y="6914147"/>
                </a:lnTo>
                <a:lnTo>
                  <a:pt x="0" y="731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31000" t="-7000" r="-28000" b="-18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A3822AB-DDAC-014A-8DCB-EE34C34EB530}"/>
              </a:ext>
            </a:extLst>
          </p:cNvPr>
          <p:cNvSpPr/>
          <p:nvPr userDrawn="1"/>
        </p:nvSpPr>
        <p:spPr>
          <a:xfrm flipH="1">
            <a:off x="-107574" y="1567612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AB6AA8-0006-BC44-9D58-6F70A1DBF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5" y="2657504"/>
            <a:ext cx="241905" cy="2127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40E1C45-2AC9-214E-9063-C7094815D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41" y="3328628"/>
            <a:ext cx="241905" cy="2127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149211-CFF1-374E-A2CF-44B57DF0C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5" y="2996241"/>
            <a:ext cx="241905" cy="212745"/>
          </a:xfrm>
          <a:prstGeom prst="rect">
            <a:avLst/>
          </a:prstGeom>
        </p:spPr>
      </p:pic>
      <p:pic>
        <p:nvPicPr>
          <p:cNvPr id="22" name="Picture 21" descr="Image result for twitter transparent logo">
            <a:extLst>
              <a:ext uri="{FF2B5EF4-FFF2-40B4-BE49-F238E27FC236}">
                <a16:creationId xmlns:a16="http://schemas.microsoft.com/office/drawing/2014/main" id="{8C3F4871-0842-FC40-BEB6-14743A23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10" y="3635615"/>
            <a:ext cx="302381" cy="2659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itle 6">
            <a:extLst>
              <a:ext uri="{FF2B5EF4-FFF2-40B4-BE49-F238E27FC236}">
                <a16:creationId xmlns:a16="http://schemas.microsoft.com/office/drawing/2014/main" id="{1B24EC04-C496-2E42-BD99-2572A799C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53" y="1330375"/>
            <a:ext cx="3991379" cy="769004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Thank You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29CFF2E4-A9FC-DB4C-89E0-98D2014C505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4001" y="2147833"/>
            <a:ext cx="3991379" cy="340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Vijay Shah | CEO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87EE83-BA19-4695-8811-03283066DBEC}"/>
              </a:ext>
            </a:extLst>
          </p:cNvPr>
          <p:cNvGrpSpPr/>
          <p:nvPr userDrawn="1"/>
        </p:nvGrpSpPr>
        <p:grpSpPr>
          <a:xfrm>
            <a:off x="737355" y="5004867"/>
            <a:ext cx="4486505" cy="1331794"/>
            <a:chOff x="737355" y="5004867"/>
            <a:chExt cx="4486505" cy="1331794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FF5BC9A-25FA-4BC0-B715-3A79ADF2E3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37355" y="5004867"/>
              <a:ext cx="1794188" cy="337818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F1CA436-19C2-4273-947D-209D6D935F99}"/>
                </a:ext>
              </a:extLst>
            </p:cNvPr>
            <p:cNvGrpSpPr/>
            <p:nvPr userDrawn="1"/>
          </p:nvGrpSpPr>
          <p:grpSpPr>
            <a:xfrm>
              <a:off x="737355" y="5599218"/>
              <a:ext cx="2966711" cy="397196"/>
              <a:chOff x="709645" y="5558475"/>
              <a:chExt cx="2966711" cy="397196"/>
            </a:xfrm>
          </p:grpSpPr>
          <p:pic>
            <p:nvPicPr>
              <p:cNvPr id="27" name="Graphic 26">
                <a:hlinkClick r:id="rId8"/>
                <a:extLst>
                  <a:ext uri="{FF2B5EF4-FFF2-40B4-BE49-F238E27FC236}">
                    <a16:creationId xmlns:a16="http://schemas.microsoft.com/office/drawing/2014/main" id="{0FB98D14-4C41-4DEA-B997-638391DE16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99492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8" name="Graphic 27">
                <a:hlinkClick r:id="rId10"/>
                <a:extLst>
                  <a:ext uri="{FF2B5EF4-FFF2-40B4-BE49-F238E27FC236}">
                    <a16:creationId xmlns:a16="http://schemas.microsoft.com/office/drawing/2014/main" id="{D94352DA-1CEE-41EC-B758-7D79801EE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0964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37" name="Graphic 36">
                <a:hlinkClick r:id="rId12"/>
                <a:extLst>
                  <a:ext uri="{FF2B5EF4-FFF2-40B4-BE49-F238E27FC236}">
                    <a16:creationId xmlns:a16="http://schemas.microsoft.com/office/drawing/2014/main" id="{56EA926E-16CB-44B7-B3FA-08AD4CA7A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35228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38" name="Graphic 37">
                <a:hlinkClick r:id="rId14"/>
                <a:extLst>
                  <a:ext uri="{FF2B5EF4-FFF2-40B4-BE49-F238E27FC236}">
                    <a16:creationId xmlns:a16="http://schemas.microsoft.com/office/drawing/2014/main" id="{AC440AEC-F37E-465C-8157-50979367B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279162" y="5558477"/>
                <a:ext cx="397194" cy="397194"/>
              </a:xfrm>
              <a:prstGeom prst="rect">
                <a:avLst/>
              </a:prstGeom>
            </p:spPr>
          </p:pic>
          <p:pic>
            <p:nvPicPr>
              <p:cNvPr id="39" name="Graphic 38">
                <a:hlinkClick r:id="rId16"/>
                <a:extLst>
                  <a:ext uri="{FF2B5EF4-FFF2-40B4-BE49-F238E27FC236}">
                    <a16:creationId xmlns:a16="http://schemas.microsoft.com/office/drawing/2014/main" id="{9DC9A7CA-FB27-46D8-82F0-3F6EB1672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2637565" y="5559195"/>
                <a:ext cx="396153" cy="396153"/>
              </a:xfrm>
              <a:prstGeom prst="rect">
                <a:avLst/>
              </a:prstGeom>
            </p:spPr>
          </p:pic>
        </p:grpSp>
        <p:sp>
          <p:nvSpPr>
            <p:cNvPr id="26" name="Los Angeles  |  Silicon Valley  |  Seattle  |  V2Solutions.com">
              <a:extLst>
                <a:ext uri="{FF2B5EF4-FFF2-40B4-BE49-F238E27FC236}">
                  <a16:creationId xmlns:a16="http://schemas.microsoft.com/office/drawing/2014/main" id="{8B7B17B2-E7AB-44B8-9B92-DF50361FA07F}"/>
                </a:ext>
              </a:extLst>
            </p:cNvPr>
            <p:cNvSpPr/>
            <p:nvPr userDrawn="1"/>
          </p:nvSpPr>
          <p:spPr>
            <a:xfrm>
              <a:off x="737355" y="6144301"/>
              <a:ext cx="4486505" cy="1923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19050" tIns="19050" rIns="19050" bIns="19050">
              <a:spAutoFit/>
            </a:bodyPr>
            <a:lstStyle/>
            <a:p>
              <a:pPr lvl="0" algn="l" defTabSz="914377">
                <a:defRPr sz="48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IN" sz="1000" kern="12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"/>
                </a:rPr>
                <a:t>Silicon Valley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|  Los Angeles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 Light"/>
                  <a:cs typeface="Calibri" panose="020F0502020204030204" pitchFamily="34" charset="0"/>
                  <a:sym typeface="Helvetica Neue Light"/>
                </a:rPr>
                <a:t>|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 Chicago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 Light"/>
                </a:rPr>
                <a:t>|  New York  |  Mumbai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8138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you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2ABF5EFA-6A7D-0C4C-B61B-FD976D24B857}"/>
              </a:ext>
            </a:extLst>
          </p:cNvPr>
          <p:cNvSpPr>
            <a:spLocks/>
          </p:cNvSpPr>
          <p:nvPr userDrawn="1"/>
        </p:nvSpPr>
        <p:spPr>
          <a:xfrm flipH="1" flipV="1">
            <a:off x="4990365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5ADDD97-8456-CB4D-9F43-779C69725996}"/>
              </a:ext>
            </a:extLst>
          </p:cNvPr>
          <p:cNvSpPr>
            <a:spLocks/>
          </p:cNvSpPr>
          <p:nvPr userDrawn="1"/>
        </p:nvSpPr>
        <p:spPr>
          <a:xfrm flipH="1">
            <a:off x="3759558" y="-12032"/>
            <a:ext cx="8448208" cy="6882063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252" h="6914147">
                <a:moveTo>
                  <a:pt x="0" y="731"/>
                </a:moveTo>
                <a:lnTo>
                  <a:pt x="4668252" y="0"/>
                </a:lnTo>
                <a:lnTo>
                  <a:pt x="2502568" y="6914147"/>
                </a:lnTo>
                <a:lnTo>
                  <a:pt x="0" y="6914147"/>
                </a:lnTo>
                <a:lnTo>
                  <a:pt x="0" y="731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31000" t="-7000" r="-28000" b="-18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17675B9-AB82-3744-BC24-37A0C768CE91}"/>
              </a:ext>
            </a:extLst>
          </p:cNvPr>
          <p:cNvSpPr/>
          <p:nvPr userDrawn="1"/>
        </p:nvSpPr>
        <p:spPr>
          <a:xfrm flipH="1">
            <a:off x="-107574" y="3277224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6">
            <a:extLst>
              <a:ext uri="{FF2B5EF4-FFF2-40B4-BE49-F238E27FC236}">
                <a16:creationId xmlns:a16="http://schemas.microsoft.com/office/drawing/2014/main" id="{8F8C408E-520A-C640-BD2F-7569944585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283" y="3044497"/>
            <a:ext cx="3991379" cy="769004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Thank You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CF49FD-972C-4CDC-9C10-42473D9AD7D1}"/>
              </a:ext>
            </a:extLst>
          </p:cNvPr>
          <p:cNvGrpSpPr/>
          <p:nvPr userDrawn="1"/>
        </p:nvGrpSpPr>
        <p:grpSpPr>
          <a:xfrm>
            <a:off x="737355" y="5004867"/>
            <a:ext cx="4486505" cy="1331794"/>
            <a:chOff x="737355" y="5004867"/>
            <a:chExt cx="4486505" cy="1331794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FD1DE105-FFB0-4A03-B152-4BBB11945A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37355" y="5004867"/>
              <a:ext cx="1794188" cy="337818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4B07B4C-D4EF-4B54-A797-189BED31BFF6}"/>
                </a:ext>
              </a:extLst>
            </p:cNvPr>
            <p:cNvGrpSpPr/>
            <p:nvPr userDrawn="1"/>
          </p:nvGrpSpPr>
          <p:grpSpPr>
            <a:xfrm>
              <a:off x="737355" y="5599218"/>
              <a:ext cx="2966711" cy="397196"/>
              <a:chOff x="709645" y="5558475"/>
              <a:chExt cx="2966711" cy="397196"/>
            </a:xfrm>
          </p:grpSpPr>
          <p:pic>
            <p:nvPicPr>
              <p:cNvPr id="26" name="Graphic 25">
                <a:hlinkClick r:id="rId4"/>
                <a:extLst>
                  <a:ext uri="{FF2B5EF4-FFF2-40B4-BE49-F238E27FC236}">
                    <a16:creationId xmlns:a16="http://schemas.microsoft.com/office/drawing/2014/main" id="{49310685-C92D-41BE-9DC7-B170BC7BA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99492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7" name="Graphic 26">
                <a:hlinkClick r:id="rId6"/>
                <a:extLst>
                  <a:ext uri="{FF2B5EF4-FFF2-40B4-BE49-F238E27FC236}">
                    <a16:creationId xmlns:a16="http://schemas.microsoft.com/office/drawing/2014/main" id="{A19FE592-4364-40F5-8B1F-07FB08F46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964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8" name="Graphic 27">
                <a:hlinkClick r:id="rId8"/>
                <a:extLst>
                  <a:ext uri="{FF2B5EF4-FFF2-40B4-BE49-F238E27FC236}">
                    <a16:creationId xmlns:a16="http://schemas.microsoft.com/office/drawing/2014/main" id="{5E99F548-B4E3-4512-AC03-DB2DB85CE6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35228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9" name="Graphic 28">
                <a:hlinkClick r:id="rId10"/>
                <a:extLst>
                  <a:ext uri="{FF2B5EF4-FFF2-40B4-BE49-F238E27FC236}">
                    <a16:creationId xmlns:a16="http://schemas.microsoft.com/office/drawing/2014/main" id="{7D27C5AC-4857-4494-8CE2-C8BF367C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279162" y="5558477"/>
                <a:ext cx="397194" cy="397194"/>
              </a:xfrm>
              <a:prstGeom prst="rect">
                <a:avLst/>
              </a:prstGeom>
            </p:spPr>
          </p:pic>
          <p:pic>
            <p:nvPicPr>
              <p:cNvPr id="30" name="Graphic 29">
                <a:hlinkClick r:id="rId12"/>
                <a:extLst>
                  <a:ext uri="{FF2B5EF4-FFF2-40B4-BE49-F238E27FC236}">
                    <a16:creationId xmlns:a16="http://schemas.microsoft.com/office/drawing/2014/main" id="{3FB2785B-C133-49B3-920A-1B7729238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637565" y="5559195"/>
                <a:ext cx="396153" cy="396153"/>
              </a:xfrm>
              <a:prstGeom prst="rect">
                <a:avLst/>
              </a:prstGeom>
            </p:spPr>
          </p:pic>
        </p:grpSp>
        <p:sp>
          <p:nvSpPr>
            <p:cNvPr id="25" name="Los Angeles  |  Silicon Valley  |  Seattle  |  V2Solutions.com">
              <a:extLst>
                <a:ext uri="{FF2B5EF4-FFF2-40B4-BE49-F238E27FC236}">
                  <a16:creationId xmlns:a16="http://schemas.microsoft.com/office/drawing/2014/main" id="{EB3BD79B-9844-42C6-AEF2-4978EFB26201}"/>
                </a:ext>
              </a:extLst>
            </p:cNvPr>
            <p:cNvSpPr/>
            <p:nvPr userDrawn="1"/>
          </p:nvSpPr>
          <p:spPr>
            <a:xfrm>
              <a:off x="737355" y="6144301"/>
              <a:ext cx="4486505" cy="1923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19050" tIns="19050" rIns="19050" bIns="19050">
              <a:spAutoFit/>
            </a:bodyPr>
            <a:lstStyle/>
            <a:p>
              <a:pPr lvl="0" algn="l" defTabSz="914377">
                <a:defRPr sz="48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IN" sz="1000" kern="12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"/>
                </a:rPr>
                <a:t>Silicon Valley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|  Los Angeles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 Light"/>
                  <a:cs typeface="Calibri" panose="020F0502020204030204" pitchFamily="34" charset="0"/>
                  <a:sym typeface="Helvetica Neue Light"/>
                </a:rPr>
                <a:t>|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 Chicago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 Light"/>
                </a:rPr>
                <a:t>|  New York  |  Mumbai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svg"/><Relationship Id="rId21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6.xml"/><Relationship Id="rId19" Type="http://schemas.openxmlformats.org/officeDocument/2006/relationships/theme" Target="../theme/theme2.xml"/><Relationship Id="rId20" Type="http://schemas.openxmlformats.org/officeDocument/2006/relationships/image" Target="../media/image1.svg"/><Relationship Id="rId2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9E573B7-11EA-E24F-9C71-1A5C29512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46C96BE-6AC1-8746-9987-70C2DBA1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hape 37">
            <a:extLst>
              <a:ext uri="{FF2B5EF4-FFF2-40B4-BE49-F238E27FC236}">
                <a16:creationId xmlns:a16="http://schemas.microsoft.com/office/drawing/2014/main" id="{BB1264A1-557E-CD40-958E-1D7642C73BA9}"/>
              </a:ext>
            </a:extLst>
          </p:cNvPr>
          <p:cNvCxnSpPr/>
          <p:nvPr userDrawn="1"/>
        </p:nvCxnSpPr>
        <p:spPr>
          <a:xfrm>
            <a:off x="-23769" y="6249246"/>
            <a:ext cx="8724180" cy="0"/>
          </a:xfrm>
          <a:prstGeom prst="straightConnector1">
            <a:avLst/>
          </a:prstGeom>
          <a:noFill/>
          <a:ln w="12700" cap="flat" cmpd="sng">
            <a:solidFill>
              <a:srgbClr val="D87C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Shape 40">
            <a:extLst>
              <a:ext uri="{FF2B5EF4-FFF2-40B4-BE49-F238E27FC236}">
                <a16:creationId xmlns:a16="http://schemas.microsoft.com/office/drawing/2014/main" id="{1504ABD4-1B77-EB4C-B721-968C6C1EAA83}"/>
              </a:ext>
            </a:extLst>
          </p:cNvPr>
          <p:cNvCxnSpPr/>
          <p:nvPr userDrawn="1"/>
        </p:nvCxnSpPr>
        <p:spPr>
          <a:xfrm rot="10800000" flipH="1">
            <a:off x="8957733" y="6249244"/>
            <a:ext cx="3234265" cy="1"/>
          </a:xfrm>
          <a:prstGeom prst="straightConnector1">
            <a:avLst/>
          </a:prstGeom>
          <a:noFill/>
          <a:ln w="12700" cap="flat" cmpd="sng">
            <a:solidFill>
              <a:srgbClr val="2D81A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D9C392D-89A6-0543-91EC-47344FC92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400" y="1087200"/>
            <a:ext cx="11546840" cy="4917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kumimoji="0" lang="en-GB"/>
              <a:t>Click to edit Master text styles</a:t>
            </a:r>
          </a:p>
          <a:p>
            <a:pPr lvl="1"/>
            <a:r>
              <a:rPr kumimoji="0" lang="en-GB"/>
              <a:t>Second level</a:t>
            </a:r>
          </a:p>
          <a:p>
            <a:pPr lvl="2"/>
            <a:r>
              <a:rPr kumimoji="0" lang="en-GB"/>
              <a:t>Third level</a:t>
            </a:r>
          </a:p>
          <a:p>
            <a:pPr lvl="3"/>
            <a:r>
              <a:rPr kumimoji="0" lang="en-GB"/>
              <a:t>Fourth level</a:t>
            </a:r>
          </a:p>
          <a:p>
            <a:pPr lvl="4"/>
            <a:r>
              <a:rPr kumimoji="0" lang="en-GB"/>
              <a:t>Fifth level</a:t>
            </a:r>
            <a:endParaRPr kumimoji="0"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C392C4-401A-2F44-BF43-AB691BF98C2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  <p:pic>
        <p:nvPicPr>
          <p:cNvPr id="14" name="Shape 35">
            <a:extLst>
              <a:ext uri="{FF2B5EF4-FFF2-40B4-BE49-F238E27FC236}">
                <a16:creationId xmlns:a16="http://schemas.microsoft.com/office/drawing/2014/main" id="{C27C1686-CD11-8B44-BB80-9C63816D5DCB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602314" y="6442165"/>
            <a:ext cx="1945102" cy="203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13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9" r:id="rId2"/>
    <p:sldLayoutId id="2147483654" r:id="rId3"/>
    <p:sldLayoutId id="2147483651" r:id="rId4"/>
    <p:sldLayoutId id="2147483652" r:id="rId5"/>
    <p:sldLayoutId id="2147483653" r:id="rId6"/>
    <p:sldLayoutId id="2147483656" r:id="rId7"/>
    <p:sldLayoutId id="2147483657" r:id="rId8"/>
    <p:sldLayoutId id="2147483665" r:id="rId9"/>
    <p:sldLayoutId id="2147483666" r:id="rId10"/>
    <p:sldLayoutId id="2147483687" r:id="rId11"/>
    <p:sldLayoutId id="2147483688" r:id="rId12"/>
    <p:sldLayoutId id="2147483664" r:id="rId13"/>
    <p:sldLayoutId id="2147483680" r:id="rId14"/>
    <p:sldLayoutId id="2147483679" r:id="rId15"/>
    <p:sldLayoutId id="2147483650" r:id="rId16"/>
    <p:sldLayoutId id="2147483715" r:id="rId17"/>
    <p:sldLayoutId id="2147483689" r:id="rId18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0" i="0" kern="1200">
          <a:solidFill>
            <a:srgbClr val="49434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rgbClr val="F15A24"/>
        </a:buClr>
        <a:buSzPct val="70000"/>
        <a:buFont typeface="Courier New" panose="02070309020205020404" pitchFamily="49" charset="0"/>
        <a:buChar char="o"/>
        <a:defRPr kumimoji="0" lang="en-GB" sz="24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76B1CD"/>
        </a:buClr>
        <a:buSzPct val="70000"/>
        <a:buFont typeface="Courier New" panose="02070309020205020404" pitchFamily="49" charset="0"/>
        <a:buChar char="o"/>
        <a:defRPr kumimoji="0" lang="en-GB" sz="22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GB" sz="18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GB" sz="16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US" sz="1400" b="0" i="0" kern="1200" dirty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9E573B7-11EA-E24F-9C71-1A5C29512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46C96BE-6AC1-8746-9987-70C2DBA1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hape 37">
            <a:extLst>
              <a:ext uri="{FF2B5EF4-FFF2-40B4-BE49-F238E27FC236}">
                <a16:creationId xmlns:a16="http://schemas.microsoft.com/office/drawing/2014/main" id="{BB1264A1-557E-CD40-958E-1D7642C73BA9}"/>
              </a:ext>
            </a:extLst>
          </p:cNvPr>
          <p:cNvCxnSpPr/>
          <p:nvPr userDrawn="1"/>
        </p:nvCxnSpPr>
        <p:spPr>
          <a:xfrm>
            <a:off x="-23769" y="6249246"/>
            <a:ext cx="8724180" cy="0"/>
          </a:xfrm>
          <a:prstGeom prst="straightConnector1">
            <a:avLst/>
          </a:prstGeom>
          <a:noFill/>
          <a:ln w="12700" cap="flat" cmpd="sng">
            <a:solidFill>
              <a:srgbClr val="D87C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Shape 40">
            <a:extLst>
              <a:ext uri="{FF2B5EF4-FFF2-40B4-BE49-F238E27FC236}">
                <a16:creationId xmlns:a16="http://schemas.microsoft.com/office/drawing/2014/main" id="{1504ABD4-1B77-EB4C-B721-968C6C1EAA83}"/>
              </a:ext>
            </a:extLst>
          </p:cNvPr>
          <p:cNvCxnSpPr/>
          <p:nvPr userDrawn="1"/>
        </p:nvCxnSpPr>
        <p:spPr>
          <a:xfrm rot="10800000" flipH="1">
            <a:off x="8957733" y="6249244"/>
            <a:ext cx="3234265" cy="1"/>
          </a:xfrm>
          <a:prstGeom prst="straightConnector1">
            <a:avLst/>
          </a:prstGeom>
          <a:noFill/>
          <a:ln w="12700" cap="flat" cmpd="sng">
            <a:solidFill>
              <a:srgbClr val="2D81A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Freeform 10">
            <a:extLst>
              <a:ext uri="{FF2B5EF4-FFF2-40B4-BE49-F238E27FC236}">
                <a16:creationId xmlns:a16="http://schemas.microsoft.com/office/drawing/2014/main" id="{60DD36C2-E450-EB47-A2CC-98E11169DAC9}"/>
              </a:ext>
            </a:extLst>
          </p:cNvPr>
          <p:cNvSpPr/>
          <p:nvPr userDrawn="1"/>
        </p:nvSpPr>
        <p:spPr>
          <a:xfrm flipH="1">
            <a:off x="-376618" y="358160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D9C392D-89A6-0543-91EC-47344FC92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400" y="1087200"/>
            <a:ext cx="11546840" cy="4917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kumimoji="0" lang="en-GB"/>
              <a:t>Click to edit Master text styles</a:t>
            </a:r>
          </a:p>
          <a:p>
            <a:pPr lvl="1"/>
            <a:r>
              <a:rPr kumimoji="0" lang="en-GB"/>
              <a:t>Second level</a:t>
            </a:r>
          </a:p>
          <a:p>
            <a:pPr lvl="2"/>
            <a:r>
              <a:rPr kumimoji="0" lang="en-GB"/>
              <a:t>Third level</a:t>
            </a:r>
          </a:p>
          <a:p>
            <a:pPr lvl="3"/>
            <a:r>
              <a:rPr kumimoji="0" lang="en-GB"/>
              <a:t>Fourth level</a:t>
            </a:r>
          </a:p>
          <a:p>
            <a:pPr lvl="4"/>
            <a:r>
              <a:rPr kumimoji="0" lang="en-GB"/>
              <a:t>Fifth level</a:t>
            </a:r>
            <a:endParaRPr kumimoji="0"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C392C4-401A-2F44-BF43-AB691BF98C2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  <p:pic>
        <p:nvPicPr>
          <p:cNvPr id="14" name="Shape 35">
            <a:extLst>
              <a:ext uri="{FF2B5EF4-FFF2-40B4-BE49-F238E27FC236}">
                <a16:creationId xmlns:a16="http://schemas.microsoft.com/office/drawing/2014/main" id="{C27C1686-CD11-8B44-BB80-9C63816D5DCB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602314" y="6442165"/>
            <a:ext cx="1945102" cy="203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82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8" r:id="rId14"/>
    <p:sldLayoutId id="2147483709" r:id="rId15"/>
    <p:sldLayoutId id="2147483710" r:id="rId16"/>
    <p:sldLayoutId id="2147483713" r:id="rId17"/>
    <p:sldLayoutId id="2147483714" r:id="rId18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0" i="0" kern="1200">
          <a:solidFill>
            <a:srgbClr val="49434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rgbClr val="F15A24"/>
        </a:buClr>
        <a:buSzPct val="70000"/>
        <a:buFont typeface="Courier New" panose="02070309020205020404" pitchFamily="49" charset="0"/>
        <a:buChar char="o"/>
        <a:defRPr kumimoji="0" lang="en-GB" sz="24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76B1CD"/>
        </a:buClr>
        <a:buSzPct val="70000"/>
        <a:buFont typeface="Courier New" panose="02070309020205020404" pitchFamily="49" charset="0"/>
        <a:buChar char="o"/>
        <a:defRPr kumimoji="0" lang="en-GB" sz="22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GB" sz="18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GB" sz="16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US" sz="1400" b="0" i="0" kern="1200" dirty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chart" Target="../charts/char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F74F4D-8811-664A-A6F2-246F6E211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31-March-2026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0CB564-27FF-7B41-A006-6E662D3B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550" y="2746882"/>
            <a:ext cx="6438901" cy="99984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/>
                </a:solidFill>
                <a:cs typeface="Calibri" panose="020F0502020204030204" pitchFamily="34" charset="0"/>
                <a:sym typeface="Arial"/>
              </a:rPr>
              <a:t>Monthly Business Review</a:t>
            </a:r>
            <a:br>
              <a:rPr lang="en-IN" dirty="0">
                <a:solidFill>
                  <a:schemeClr val="tx1"/>
                </a:solidFill>
                <a:cs typeface="Calibri" panose="020F0502020204030204" pitchFamily="34" charset="0"/>
                <a:sym typeface="Arial"/>
              </a:rPr>
            </a:br>
            <a:r>
              <a:rPr lang="en-IN" dirty="0">
                <a:solidFill>
                  <a:schemeClr val="tx1"/>
                </a:solidFill>
                <a:cs typeface="Calibri" panose="020F0502020204030204" pitchFamily="34" charset="0"/>
                <a:sym typeface="Arial"/>
              </a:rPr>
              <a:t>LendingTree (LT)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8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548E33-F50F-3C7B-77F6-F9C2D2EE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LT–V2 Joint Delivery Snapshot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CB256-9244-D120-8FFF-991A4506459D}"/>
              </a:ext>
            </a:extLst>
          </p:cNvPr>
          <p:cNvSpPr txBox="1"/>
          <p:nvPr/>
        </p:nvSpPr>
        <p:spPr>
          <a:xfrm>
            <a:off x="396264" y="965669"/>
            <a:ext cx="1082820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i="1" dirty="0"/>
              <a:t>Key Highlights Across Workstreams </a:t>
            </a:r>
          </a:p>
          <a:p>
            <a:pPr>
              <a:buNone/>
            </a:pPr>
            <a:endParaRPr lang="en-IN" sz="1600" b="1" dirty="0"/>
          </a:p>
          <a:p>
            <a:r>
              <a:rPr lang="en-IN" sz="1600" b="1" dirty="0"/>
              <a:t>Objective</a:t>
            </a:r>
            <a:r>
              <a:rPr lang="en-IN" sz="1600" dirty="0"/>
              <a:t>: Showcase collaborative delivery efforts between LT and V2 teams across major projects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Project Focus Areas</a:t>
            </a:r>
            <a:r>
              <a:rPr lang="en-IN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WordPress Modernization (WPM)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SEO &amp; Conversion Enhancements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CanopyNext</a:t>
            </a:r>
            <a:r>
              <a:rPr lang="en-IN" sz="1600" dirty="0"/>
              <a:t> Platform Expansion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Core Platform Optimizations (Offers, FLEX, Phoenix)</a:t>
            </a:r>
          </a:p>
          <a:p>
            <a:pPr lvl="1"/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Cadence &amp; Alignment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Weekly Workstream Standups</a:t>
            </a:r>
            <a:br>
              <a:rPr lang="en-IN" sz="1600" dirty="0"/>
            </a:br>
            <a:r>
              <a:rPr lang="en-IN" sz="1600" dirty="0"/>
              <a:t>Progress sync, blockers discussion, and sprint planning by project leads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Bi-Weekly Governance Reviews</a:t>
            </a:r>
            <a:br>
              <a:rPr lang="en-IN" sz="1600" dirty="0"/>
            </a:br>
            <a:r>
              <a:rPr lang="en-IN" sz="1600" dirty="0"/>
              <a:t>Led by LT Managers and V2 Leads to assess delivery health, velocity, and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Monthly Leadership Touchpoints</a:t>
            </a:r>
            <a:br>
              <a:rPr lang="en-IN" sz="1600" dirty="0"/>
            </a:br>
            <a:r>
              <a:rPr lang="en-IN" sz="1600" dirty="0"/>
              <a:t>Cross-functional alignment with business/product stakeholders for strategic priorities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057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A9758-D155-0214-6B4D-E61EF15F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AA07E6-634E-C80C-2350-5523FAB45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70702"/>
            <a:ext cx="10515600" cy="769004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2400" dirty="0"/>
              <a:t>LT–V2 Joint Delivery Snapshot | Key Highlights Across Workstreams</a:t>
            </a:r>
            <a:endParaRPr lang="en-US" sz="2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E7B8C9-8088-CE6F-4B4A-E1E0F18AA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24797"/>
              </p:ext>
            </p:extLst>
          </p:nvPr>
        </p:nvGraphicFramePr>
        <p:xfrm>
          <a:off x="279400" y="939706"/>
          <a:ext cx="11324771" cy="4952107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962219">
                  <a:extLst>
                    <a:ext uri="{9D8B030D-6E8A-4147-A177-3AD203B41FA5}">
                      <a16:colId xmlns:a16="http://schemas.microsoft.com/office/drawing/2014/main" val="1967695701"/>
                    </a:ext>
                  </a:extLst>
                </a:gridCol>
                <a:gridCol w="928442">
                  <a:extLst>
                    <a:ext uri="{9D8B030D-6E8A-4147-A177-3AD203B41FA5}">
                      <a16:colId xmlns:a16="http://schemas.microsoft.com/office/drawing/2014/main" val="3844669082"/>
                    </a:ext>
                  </a:extLst>
                </a:gridCol>
                <a:gridCol w="933062">
                  <a:extLst>
                    <a:ext uri="{9D8B030D-6E8A-4147-A177-3AD203B41FA5}">
                      <a16:colId xmlns:a16="http://schemas.microsoft.com/office/drawing/2014/main" val="781810719"/>
                    </a:ext>
                  </a:extLst>
                </a:gridCol>
                <a:gridCol w="4513634">
                  <a:extLst>
                    <a:ext uri="{9D8B030D-6E8A-4147-A177-3AD203B41FA5}">
                      <a16:colId xmlns:a16="http://schemas.microsoft.com/office/drawing/2014/main" val="3589883180"/>
                    </a:ext>
                  </a:extLst>
                </a:gridCol>
                <a:gridCol w="3987414">
                  <a:extLst>
                    <a:ext uri="{9D8B030D-6E8A-4147-A177-3AD203B41FA5}">
                      <a16:colId xmlns:a16="http://schemas.microsoft.com/office/drawing/2014/main" val="3502718252"/>
                    </a:ext>
                  </a:extLst>
                </a:gridCol>
              </a:tblGrid>
              <a:tr h="373510"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>
                          <a:solidFill>
                            <a:srgbClr val="FFFFFF"/>
                          </a:solidFill>
                        </a:rPr>
                        <a:t>Project​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>
                          <a:solidFill>
                            <a:srgbClr val="FFFFFF"/>
                          </a:solidFill>
                        </a:rPr>
                        <a:t>LT Manager​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>
                          <a:solidFill>
                            <a:srgbClr val="FFFFFF"/>
                          </a:solidFill>
                        </a:rPr>
                        <a:t>V2 Team​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US" sz="1050" kern="1200">
                          <a:solidFill>
                            <a:srgbClr val="FFFFFF"/>
                          </a:solidFill>
                        </a:rPr>
                        <a:t>What We Delivered / Are Solving</a:t>
                      </a:r>
                    </a:p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endParaRPr lang="en-US" sz="1050" kern="1200">
                        <a:solidFill>
                          <a:srgbClr val="FFFFFF"/>
                        </a:solidFill>
                      </a:endParaRP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196443385"/>
                  </a:ext>
                </a:extLst>
              </a:tr>
              <a:tr h="16621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US" sz="105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In-progress</a:t>
                      </a:r>
                      <a:endParaRPr lang="en-IN" sz="1050" b="1" kern="12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789676"/>
                  </a:ext>
                </a:extLst>
              </a:tr>
              <a:tr h="52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WordPress Modernization (WPM)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Robert Ploeger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sz="1000"/>
                        <a:t>Dayanand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/>
                        <a:t>(this month's deck could not be read -- see review checklist)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sz="1000"/>
                        <a:t>(none reported this month)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856257"/>
                  </a:ext>
                </a:extLst>
              </a:tr>
              <a:tr h="52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Consumer Experience Team (CET)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Robert Ploeger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Harpreet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000"/>
                        <a:t>(no team report submitted this month)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sz="1000"/>
                        <a:t>(none reported this month)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704679"/>
                  </a:ext>
                </a:extLst>
              </a:tr>
              <a:tr h="7673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SEOD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Robert Ploeger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Himanshu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sz="1000"/>
                        <a:t>Typography &amp; UI Enhancements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sz="1000"/>
                        <a:t>Focus: Improving visual consistency, readability, and UI polish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sz="1000"/>
                        <a:t>Standardized blog H1 to XL (40px) for consistent headline hierarchy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sz="1000"/>
                        <a:t>VP - Home insurance calculator (SEOD-1922)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811220"/>
                  </a:ext>
                </a:extLst>
              </a:tr>
              <a:tr h="199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Consumer Web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Robert Ploeger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Amul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/>
                        <a:t>Financial API: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/>
                        <a:t>Add Backfill Support to RatesSyncJob for Missing Historical Data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/>
                        <a:t>Add Manual Sync API Endpoints for RealTimeRates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000"/>
                        <a:t>Carpentry :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000"/>
                        <a:t>Fix semantic HTML in leadboxes: Replace header element with div when use-headline-font is enabled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000"/>
                        <a:t>Tracking | Carpentry event updates</a:t>
                      </a:r>
                    </a:p>
                  </a:txBody>
                  <a:tcPr marL="52163" marR="52163" marT="26082" marB="2608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576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22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204C-6105-E512-9F4C-EF5AE0E4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A53C1-EC20-299B-EF27-2F4985C93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7475"/>
            <a:ext cx="10515600" cy="769004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2400" dirty="0"/>
              <a:t>LT–V2 Joint Delivery Snapshot | Key Highlights Across Workstreams</a:t>
            </a:r>
            <a:endParaRPr lang="en-US" sz="2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267122-4F64-2AF5-3F42-ACC6F9E74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387780"/>
              </p:ext>
            </p:extLst>
          </p:nvPr>
        </p:nvGraphicFramePr>
        <p:xfrm>
          <a:off x="279400" y="906578"/>
          <a:ext cx="11324771" cy="3523484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962219">
                  <a:extLst>
                    <a:ext uri="{9D8B030D-6E8A-4147-A177-3AD203B41FA5}">
                      <a16:colId xmlns:a16="http://schemas.microsoft.com/office/drawing/2014/main" val="1967695701"/>
                    </a:ext>
                  </a:extLst>
                </a:gridCol>
                <a:gridCol w="928442">
                  <a:extLst>
                    <a:ext uri="{9D8B030D-6E8A-4147-A177-3AD203B41FA5}">
                      <a16:colId xmlns:a16="http://schemas.microsoft.com/office/drawing/2014/main" val="3844669082"/>
                    </a:ext>
                  </a:extLst>
                </a:gridCol>
                <a:gridCol w="1157930">
                  <a:extLst>
                    <a:ext uri="{9D8B030D-6E8A-4147-A177-3AD203B41FA5}">
                      <a16:colId xmlns:a16="http://schemas.microsoft.com/office/drawing/2014/main" val="781810719"/>
                    </a:ext>
                  </a:extLst>
                </a:gridCol>
                <a:gridCol w="3938722">
                  <a:extLst>
                    <a:ext uri="{9D8B030D-6E8A-4147-A177-3AD203B41FA5}">
                      <a16:colId xmlns:a16="http://schemas.microsoft.com/office/drawing/2014/main" val="3589883180"/>
                    </a:ext>
                  </a:extLst>
                </a:gridCol>
                <a:gridCol w="4337458">
                  <a:extLst>
                    <a:ext uri="{9D8B030D-6E8A-4147-A177-3AD203B41FA5}">
                      <a16:colId xmlns:a16="http://schemas.microsoft.com/office/drawing/2014/main" val="3502718252"/>
                    </a:ext>
                  </a:extLst>
                </a:gridCol>
              </a:tblGrid>
              <a:tr h="373510"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 dirty="0">
                          <a:solidFill>
                            <a:srgbClr val="FFFFFF"/>
                          </a:solidFill>
                        </a:rPr>
                        <a:t>Project​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 dirty="0">
                          <a:solidFill>
                            <a:srgbClr val="FFFFFF"/>
                          </a:solidFill>
                        </a:rPr>
                        <a:t>LT Manager​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 dirty="0">
                          <a:solidFill>
                            <a:srgbClr val="FFFFFF"/>
                          </a:solidFill>
                        </a:rPr>
                        <a:t>V2 Team​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US" sz="1050" kern="1200" dirty="0">
                          <a:solidFill>
                            <a:srgbClr val="FFFFFF"/>
                          </a:solidFill>
                        </a:rPr>
                        <a:t>What We Delivered / Are Solving</a:t>
                      </a:r>
                    </a:p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endParaRPr lang="en-US" sz="1050" kern="1200" dirty="0">
                        <a:solidFill>
                          <a:srgbClr val="FFFFFF"/>
                        </a:solidFill>
                      </a:endParaRP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196443385"/>
                  </a:ext>
                </a:extLst>
              </a:tr>
              <a:tr h="20121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US" sz="10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In-progress</a:t>
                      </a:r>
                      <a:endParaRPr lang="en-IN" sz="105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789676"/>
                  </a:ext>
                </a:extLst>
              </a:tr>
              <a:tr h="52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Phoenix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Douglas Brown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Kunal Badgujar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(no team report submitted this month)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(none reported this month)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988588"/>
                  </a:ext>
                </a:extLst>
              </a:tr>
              <a:tr h="52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SLE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Sushanth Kancharla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Puspendu Bhushan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Created new table to allow custom components render in columns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Created new contact tab and implemented adding new contacts and showing contacts in grid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(none reported this month)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856257"/>
                  </a:ext>
                </a:extLst>
              </a:tr>
              <a:tr h="5298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FLEX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David Wilson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/>
                        <a:t>Saurabh Chowdhury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FLEX-792: Redesign the SMB Offers page to show Real offers, instead of static data.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Flex-739: Home Portfolio Leads: Implement Home Portfolio Leads with Offer Rate table.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Flex-784: Funnels - Cross Sell Variations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/>
                        <a:t>FLEX-584: Verify User’s Phone number using a Third Party API for BL and HE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811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24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27422EE1-27AD-7C36-F686-C97FA0987A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7529" y="1162546"/>
          <a:ext cx="10547541" cy="1415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1964">
                  <a:extLst>
                    <a:ext uri="{9D8B030D-6E8A-4147-A177-3AD203B41FA5}">
                      <a16:colId xmlns:a16="http://schemas.microsoft.com/office/drawing/2014/main" val="507871818"/>
                    </a:ext>
                  </a:extLst>
                </a:gridCol>
                <a:gridCol w="7129288">
                  <a:extLst>
                    <a:ext uri="{9D8B030D-6E8A-4147-A177-3AD203B41FA5}">
                      <a16:colId xmlns:a16="http://schemas.microsoft.com/office/drawing/2014/main" val="3578642999"/>
                    </a:ext>
                  </a:extLst>
                </a:gridCol>
                <a:gridCol w="1579323">
                  <a:extLst>
                    <a:ext uri="{9D8B030D-6E8A-4147-A177-3AD203B41FA5}">
                      <a16:colId xmlns:a16="http://schemas.microsoft.com/office/drawing/2014/main" val="3313243114"/>
                    </a:ext>
                  </a:extLst>
                </a:gridCol>
                <a:gridCol w="1316966">
                  <a:extLst>
                    <a:ext uri="{9D8B030D-6E8A-4147-A177-3AD203B41FA5}">
                      <a16:colId xmlns:a16="http://schemas.microsoft.com/office/drawing/2014/main" val="2882058750"/>
                    </a:ext>
                  </a:extLst>
                </a:gridCol>
              </a:tblGrid>
              <a:tr h="379335">
                <a:tc>
                  <a:txBody>
                    <a:bodyPr/>
                    <a:lstStyle/>
                    <a:p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Action Owner 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340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Setup monthly review meeting with other LT stakeholders</a:t>
                      </a:r>
                      <a:endParaRPr lang="en-US" sz="1100">
                        <a:latin typeface="Century Gothic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Kapil / </a:t>
                      </a:r>
                      <a:r>
                        <a:rPr 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Kanhai</a:t>
                      </a:r>
                      <a:endParaRPr lang="en-US" sz="11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In Progress</a:t>
                      </a:r>
                      <a:endParaRPr lang="en-US" sz="11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55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Discuss and plan for future road map for next quarter 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Kapil / Kanhai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In Progress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512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AI adoption data matrix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Kanhai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In Progress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77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QA automation project demo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Kanhai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In Progress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698629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1BD5FE08-1B45-3EA7-7B14-A2F67970333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  <a:prstDash val="solid"/>
          </a:ln>
        </p:spPr>
        <p:txBody>
          <a:bodyPr>
            <a:normAutofit/>
          </a:bodyPr>
          <a:lstStyle/>
          <a:p>
            <a:r>
              <a:rPr lang="en-US">
                <a:latin typeface="Questrial"/>
                <a:ea typeface="Questrial"/>
                <a:cs typeface="Questrial"/>
                <a:sym typeface="Questrial"/>
              </a:rPr>
              <a:t>Suggestions | Recommendations | Next Steps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31398F-8AA7-68EB-EFF8-6B0968E147AE}"/>
              </a:ext>
            </a:extLst>
          </p:cNvPr>
          <p:cNvSpPr txBox="1">
            <a:spLocks/>
          </p:cNvSpPr>
          <p:nvPr/>
        </p:nvSpPr>
        <p:spPr>
          <a:xfrm>
            <a:off x="429321" y="4243669"/>
            <a:ext cx="10896563" cy="1301779"/>
          </a:xfrm>
          <a:prstGeom prst="rect">
            <a:avLst/>
          </a:prstGeom>
          <a:ln w="28575">
            <a:solidFill>
              <a:srgbClr val="76B1CD"/>
            </a:solidFill>
            <a:prstDash val="solid"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F15A24"/>
              </a:buClr>
              <a:buSzPct val="70000"/>
              <a:buFont typeface="Courier New" panose="02070309020205020404" pitchFamily="49" charset="0"/>
              <a:buChar char="o"/>
              <a:defRPr kumimoji="0" lang="en-GB" sz="24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76B1CD"/>
              </a:buClr>
              <a:buSzPct val="70000"/>
              <a:buFont typeface="Courier New" panose="02070309020205020404" pitchFamily="49" charset="0"/>
              <a:buChar char="o"/>
              <a:defRPr kumimoji="0" lang="en-GB" sz="22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GB" sz="18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GB" sz="16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US" sz="1400" b="0" i="0" kern="1200" dirty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chemeClr val="accent1"/>
                </a:solidFill>
                <a:latin typeface="Century Gothic"/>
                <a:ea typeface="Roboto"/>
                <a:cs typeface="Calibri"/>
              </a:rPr>
              <a:t>Suggestions / Recommendations</a:t>
            </a:r>
          </a:p>
          <a:p>
            <a:r>
              <a:rPr lang="en-US" sz="1200" b="1">
                <a:solidFill>
                  <a:schemeClr val="accent1"/>
                </a:solidFill>
                <a:latin typeface="Century Gothic"/>
                <a:ea typeface="Roboto"/>
                <a:cs typeface="Calibri"/>
              </a:rPr>
              <a:t>Showcase of QA Automation implementation</a:t>
            </a:r>
          </a:p>
          <a:p>
            <a:r>
              <a:rPr lang="en-US" sz="1200" b="1">
                <a:solidFill>
                  <a:schemeClr val="accent1"/>
                </a:solidFill>
                <a:latin typeface="Century Gothic"/>
                <a:ea typeface="Roboto"/>
                <a:cs typeface="Calibri"/>
              </a:rPr>
              <a:t>AI in SDLC – Experiences and Success Factors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BCDEF5C-789F-8AB7-618B-B96B6A104B2A}"/>
              </a:ext>
            </a:extLst>
          </p:cNvPr>
          <p:cNvSpPr txBox="1">
            <a:spLocks/>
          </p:cNvSpPr>
          <p:nvPr/>
        </p:nvSpPr>
        <p:spPr>
          <a:xfrm>
            <a:off x="431313" y="810313"/>
            <a:ext cx="10894571" cy="3209426"/>
          </a:xfrm>
          <a:prstGeom prst="rect">
            <a:avLst/>
          </a:prstGeom>
          <a:ln w="28575">
            <a:solidFill>
              <a:srgbClr val="76B1CD"/>
            </a:solidFill>
            <a:prstDash val="solid"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F15A24"/>
              </a:buClr>
              <a:buSzPct val="70000"/>
              <a:buFont typeface="Courier New" panose="02070309020205020404" pitchFamily="49" charset="0"/>
              <a:buChar char="o"/>
              <a:defRPr kumimoji="0" lang="en-GB" sz="24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76B1CD"/>
              </a:buClr>
              <a:buSzPct val="70000"/>
              <a:buFont typeface="Courier New" panose="02070309020205020404" pitchFamily="49" charset="0"/>
              <a:buChar char="o"/>
              <a:defRPr kumimoji="0" lang="en-GB" sz="22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GB" sz="18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GB" sz="16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US" sz="1400" b="0" i="0" kern="1200" dirty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D87C43"/>
                </a:solidFill>
                <a:latin typeface="Century Gothic"/>
                <a:ea typeface="Roboto"/>
                <a:cs typeface="Calibri"/>
              </a:rPr>
              <a:t>Actions Items</a:t>
            </a:r>
            <a:endParaRPr lang="en-US" sz="1200" b="1">
              <a:solidFill>
                <a:srgbClr val="D87C43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455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D327-FB44-D85E-5EF7-8C01AE22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Details</a:t>
            </a:r>
          </a:p>
        </p:txBody>
      </p:sp>
    </p:spTree>
    <p:extLst>
      <p:ext uri="{BB962C8B-B14F-4D97-AF65-F5344CB8AC3E}">
        <p14:creationId xmlns:p14="http://schemas.microsoft.com/office/powerpoint/2010/main" val="175410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4CC1-A4D3-7B08-39AD-AE2B284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87597-ACBB-DF93-3ADA-CB6DF2D0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01" y="341314"/>
            <a:ext cx="4748399" cy="445404"/>
          </a:xfrm>
        </p:spPr>
        <p:txBody>
          <a:bodyPr>
            <a:normAutofit/>
          </a:bodyPr>
          <a:lstStyle/>
          <a:p>
            <a:r>
              <a:rPr lang="en-US" sz="2000" b="1" dirty="0"/>
              <a:t>Project Metrics - Consumer Web</a:t>
            </a:r>
            <a:r>
              <a:rPr lang="en-IN" sz="2000" b="1" dirty="0"/>
              <a:t/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F070D-0F8C-CC9F-77FE-E03BE0E033AC}"/>
              </a:ext>
            </a:extLst>
          </p:cNvPr>
          <p:cNvSpPr txBox="1"/>
          <p:nvPr/>
        </p:nvSpPr>
        <p:spPr>
          <a:xfrm>
            <a:off x="828800" y="4096034"/>
            <a:ext cx="10155999" cy="156966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US" sz="1200" b="1" dirty="0">
                <a:ea typeface="+mn-lt"/>
                <a:cs typeface="+mn-lt"/>
              </a:rPr>
              <a:t>Key Achievements and 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r>
              <a:rPr lang="en-US" sz="1200" b="1" dirty="0">
                <a:ea typeface="+mn-lt"/>
                <a:cs typeface="+mn-lt"/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sz="1200"/>
              <a:t>Helping tester to test all kinds of scenarios for the tickets and other application validation support.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sz="1200"/>
              <a:t>Deployment support.</a:t>
            </a:r>
          </a:p>
          <a:p>
            <a:pPr marL="0" lvl="1" fontAlgn="base"/>
            <a:r>
              <a:rPr lang="en-IN" sz="1200" b="1" dirty="0">
                <a:ea typeface="+mn-lt"/>
                <a:cs typeface="+mn-lt"/>
              </a:rPr>
              <a:t>Risks / Constraints/ Update</a:t>
            </a:r>
            <a:endParaRPr lang="en-US" sz="1200" b="1" dirty="0">
              <a:ea typeface="+mn-lt"/>
              <a:cs typeface="+mn-lt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200" dirty="0">
                <a:latin typeface="+mj-lt"/>
              </a:rPr>
              <a:t>Delivery quality remains strong with minimal rework; however, quality trends will continue to be monitored to sustain current performance levels.</a:t>
            </a:r>
            <a:endParaRPr lang="en-US" sz="1200" dirty="0">
              <a:latin typeface="+mj-lt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54B4EAF-1376-4224-983E-EFFDF3AB9662}"/>
              </a:ext>
              <a:ext uri="{147F2762-F138-4A5C-976F-8EAC2B608ADB}">
                <a16:predDERef xmlns:a16="http://schemas.microsoft.com/office/drawing/2014/main" pred="{75683276-158A-4821-E91E-42A2408AE9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914982"/>
              </p:ext>
            </p:extLst>
          </p:nvPr>
        </p:nvGraphicFramePr>
        <p:xfrm>
          <a:off x="5955599" y="1122627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5A44939-8F1D-4013-8BD7-C895FA6D99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6491488"/>
              </p:ext>
            </p:extLst>
          </p:nvPr>
        </p:nvGraphicFramePr>
        <p:xfrm>
          <a:off x="828800" y="1125518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34475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30948-185D-9877-F8E3-87AEDA806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0955B-3426-3C27-D0F8-9DC4CFBF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34" y="163995"/>
            <a:ext cx="10515600" cy="425949"/>
          </a:xfrm>
        </p:spPr>
        <p:txBody>
          <a:bodyPr>
            <a:normAutofit fontScale="90000"/>
          </a:bodyPr>
          <a:lstStyle/>
          <a:p>
            <a:r>
              <a:rPr lang="en-IN" sz="2400" b="1" dirty="0"/>
              <a:t>Project Metrics - Consumer Experience Team (CET)</a:t>
            </a:r>
            <a:r>
              <a:rPr lang="en-US" sz="2400" b="1" dirty="0"/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1F10D-B553-F67C-C16E-669D5A6858FC}"/>
              </a:ext>
            </a:extLst>
          </p:cNvPr>
          <p:cNvSpPr txBox="1"/>
          <p:nvPr/>
        </p:nvSpPr>
        <p:spPr>
          <a:xfrm>
            <a:off x="418734" y="3798652"/>
            <a:ext cx="11259100" cy="2123658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50" b="1" dirty="0">
                <a:ea typeface="+mn-lt"/>
                <a:cs typeface="+mn-lt"/>
              </a:rPr>
              <a:t>Key Achievements and </a:t>
            </a:r>
            <a:r>
              <a:rPr lang="en-IN" sz="1050" b="1" dirty="0">
                <a:ea typeface="+mn-lt"/>
                <a:cs typeface="+mn-lt"/>
              </a:rPr>
              <a:t>Project Roadmap</a:t>
            </a:r>
            <a:endParaRPr lang="en-US" sz="1200" b="1" dirty="0">
              <a:ea typeface="+mn-lt"/>
              <a:cs typeface="+mn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Development and enhancement efforts are continuing for the Credit Cards initiative under the following epics: CET-110 (LT Homepage Fast Follow) and CET-195 (LT Homepage Phase 2).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The last two sprints were completed with minimal carryover (3 story points) and no ticket reopenings, reflecting strong delivery quality, effective sprint planning, and execution.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The carryover was due to a dependency on stakeholder validation, as the reporter (Stacey) was unavailable during the sprint due to planned vacation.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After providing support for CET for one sprint , Harpreet have transitioned back to the WPM board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050" dirty="0">
                <a:latin typeface="+mj-lt"/>
              </a:rPr>
              <a:t>No significant team, process, or operational impediments impacted sprint delivery during the reporting period.</a:t>
            </a:r>
            <a:endParaRPr lang="en-US" sz="1200" dirty="0">
              <a:latin typeface="+mj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200" b="1" dirty="0">
              <a:latin typeface="+mj-lt"/>
              <a:ea typeface="+mn-lt"/>
              <a:cs typeface="+mn-lt"/>
            </a:endParaRPr>
          </a:p>
          <a:p>
            <a:pPr marL="0" lvl="1"/>
            <a:r>
              <a:rPr lang="en-IN" sz="1050" b="1" dirty="0">
                <a:ea typeface="+mn-lt"/>
                <a:cs typeface="+mn-lt"/>
              </a:rPr>
              <a:t>Risks / Constraints/ Update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Timely stakeholder feedback is important to avoid delivery delays.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The move of resources back to WPM may slightly impact CET capacity and will be monitored in future sprints.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AF9641F-B6E0-4BB0-8D7A-A4F9260F8BB6}"/>
              </a:ext>
              <a:ext uri="{147F2762-F138-4A5C-976F-8EAC2B608ADB}">
                <a16:predDERef xmlns:a16="http://schemas.microsoft.com/office/drawing/2014/main" pred="{B436BF7F-706D-434C-AEDC-68C259B94C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5597983"/>
              </p:ext>
            </p:extLst>
          </p:nvPr>
        </p:nvGraphicFramePr>
        <p:xfrm>
          <a:off x="418734" y="86755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0D48836-D0DD-49DC-BBCA-17C3B48D6C55}"/>
              </a:ext>
              <a:ext uri="{147F2762-F138-4A5C-976F-8EAC2B608ADB}">
                <a16:predDERef xmlns:a16="http://schemas.microsoft.com/office/drawing/2014/main" pred="{82E44D16-F664-4456-A8A5-69C6148A3B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762296"/>
              </p:ext>
            </p:extLst>
          </p:nvPr>
        </p:nvGraphicFramePr>
        <p:xfrm>
          <a:off x="4219484" y="86755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E512837-0E0C-4A00-B054-85CDB886A1E8}"/>
              </a:ext>
              <a:ext uri="{147F2762-F138-4A5C-976F-8EAC2B608ADB}">
                <a16:predDERef xmlns:a16="http://schemas.microsoft.com/office/drawing/2014/main" pred="{60D48836-D0DD-49DC-BBCA-17C3B48D6C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4978875"/>
              </p:ext>
            </p:extLst>
          </p:nvPr>
        </p:nvGraphicFramePr>
        <p:xfrm>
          <a:off x="8020234" y="86755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17744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4E9C-6368-C25E-0F16-9A0063E94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C7ACE3-079D-2043-4575-B47C8751F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34" y="163995"/>
            <a:ext cx="10515600" cy="425949"/>
          </a:xfrm>
        </p:spPr>
        <p:txBody>
          <a:bodyPr>
            <a:normAutofit fontScale="90000"/>
          </a:bodyPr>
          <a:lstStyle/>
          <a:p>
            <a:r>
              <a:rPr lang="en-IN" sz="2400" b="1" dirty="0"/>
              <a:t>Project Metrics - WordPress Modernization (WPM)</a:t>
            </a:r>
            <a:r>
              <a:rPr lang="en-US" sz="2400" b="1" dirty="0"/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5E7BC-9804-1FCE-A948-35DBB915AD3D}"/>
              </a:ext>
            </a:extLst>
          </p:cNvPr>
          <p:cNvSpPr txBox="1"/>
          <p:nvPr/>
        </p:nvSpPr>
        <p:spPr>
          <a:xfrm>
            <a:off x="418734" y="3798652"/>
            <a:ext cx="11259100" cy="156966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50" b="1" dirty="0">
                <a:ea typeface="+mn-lt"/>
                <a:cs typeface="+mn-lt"/>
              </a:rPr>
              <a:t>Key Achievements and </a:t>
            </a:r>
            <a:r>
              <a:rPr lang="en-IN" sz="950" b="1" dirty="0">
                <a:ea typeface="+mn-lt"/>
                <a:cs typeface="+mn-lt"/>
              </a:rPr>
              <a:t>Project Roadmap</a:t>
            </a:r>
            <a:endParaRPr lang="en-US" sz="1200" b="1" dirty="0">
              <a:ea typeface="+mn-lt"/>
              <a:cs typeface="+mn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950" dirty="0">
                <a:latin typeface="+mj-lt"/>
              </a:rPr>
              <a:t>Continued development and enhancement efforts for the Credit Cards initiative, supporting ongoing product improvements and roadmap objectives.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950" dirty="0">
                <a:latin typeface="+mj-lt"/>
              </a:rPr>
              <a:t>The last two sprints were completed with zero ticket reopenings and no carryover, demonstrating strong delivery quality and effective sprint execution.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950">
                <a:latin typeface="+mj-lt"/>
              </a:rPr>
              <a:t>No team-side blockers or operational impediments were reported.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200" b="1" dirty="0">
              <a:latin typeface="+mj-lt"/>
            </a:endParaRPr>
          </a:p>
          <a:p>
            <a:pPr marL="0" lvl="1" fontAlgn="base"/>
            <a:r>
              <a:rPr lang="en-IN" sz="950" b="1" dirty="0">
                <a:ea typeface="+mn-lt"/>
                <a:cs typeface="+mn-lt"/>
              </a:rPr>
              <a:t>Risks / Constraints/ Update</a:t>
            </a:r>
            <a:endParaRPr lang="en-US" sz="1200" b="1" dirty="0">
              <a:ea typeface="+mn-lt"/>
              <a:cs typeface="+mn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950" dirty="0">
                <a:latin typeface="+mj-lt"/>
              </a:rPr>
              <a:t>Harpreet has transitioned back to the WPM team while continuing to provide support for selected CET initiatives.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950" dirty="0">
                <a:latin typeface="+mj-lt"/>
              </a:rPr>
              <a:t>Resource capacity is currently shared across WPM and CET workstreams; delivery commitments will be monitored to ensure priorities remain aligned.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4D7D105-5A56-4576-BDD3-BF135ACF459A}"/>
              </a:ext>
              <a:ext uri="{147F2762-F138-4A5C-976F-8EAC2B608ADB}">
                <a16:predDERef xmlns:a16="http://schemas.microsoft.com/office/drawing/2014/main" pred="{8FAB5D13-7A3A-4D14-BE4A-760AE6865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392140"/>
              </p:ext>
            </p:extLst>
          </p:nvPr>
        </p:nvGraphicFramePr>
        <p:xfrm>
          <a:off x="418734" y="916055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3979572-C8E5-494B-B074-781B351D6430}"/>
              </a:ext>
              <a:ext uri="{147F2762-F138-4A5C-976F-8EAC2B608ADB}">
                <a16:predDERef xmlns:a16="http://schemas.microsoft.com/office/drawing/2014/main" pred="{21E4B3CF-24A3-4ADD-B296-DDCF175497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5982128"/>
              </p:ext>
            </p:extLst>
          </p:nvPr>
        </p:nvGraphicFramePr>
        <p:xfrm>
          <a:off x="4214299" y="916055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6953DD6-D62E-4162-AB85-24FD1B26C238}"/>
              </a:ext>
              <a:ext uri="{147F2762-F138-4A5C-976F-8EAC2B608ADB}">
                <a16:predDERef xmlns:a16="http://schemas.microsoft.com/office/drawing/2014/main" pred="{D3979572-C8E5-494B-B074-781B351D6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5573141"/>
              </p:ext>
            </p:extLst>
          </p:nvPr>
        </p:nvGraphicFramePr>
        <p:xfrm>
          <a:off x="8020234" y="916055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87945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4CC1-A4D3-7B08-39AD-AE2B284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87597-ACBB-DF93-3ADA-CB6DF2D0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3474078" cy="484315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Project Metrics - SEOD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29951-CE20-EB88-06BE-2C5D3CF9012F}"/>
              </a:ext>
            </a:extLst>
          </p:cNvPr>
          <p:cNvSpPr txBox="1"/>
          <p:nvPr/>
        </p:nvSpPr>
        <p:spPr>
          <a:xfrm>
            <a:off x="418738" y="3702493"/>
            <a:ext cx="11254448" cy="1754326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lvl="1" fontAlgn="base"/>
            <a:r>
              <a:rPr lang="en-US" sz="1100" b="1" dirty="0">
                <a:ea typeface="+mn-lt"/>
                <a:cs typeface="+mn-lt"/>
              </a:rPr>
              <a:t>Key Achievements and </a:t>
            </a:r>
            <a:r>
              <a:rPr lang="en-IN" sz="1100" b="1" dirty="0">
                <a:ea typeface="+mn-lt"/>
                <a:cs typeface="+mn-lt"/>
              </a:rPr>
              <a:t>Project Roadmap</a:t>
            </a:r>
            <a:endParaRPr lang="en-US" sz="1200" b="1" dirty="0">
              <a:ea typeface="+mn-lt"/>
              <a:cs typeface="+mn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VP discovery and enhancement activities are progressing as planned.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Delivery throughput remained healthy across the reporting period, reflecting consistent execution and sprint predictability.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The last two sprints were completed with zero carryover and no ticket reopenings, demonstrating improved delivery quality and planning effectiveness.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No significant operational, process, or team-related blockers impacted delivery.</a:t>
            </a:r>
            <a:br>
              <a:rPr lang="en-US" sz="1200" dirty="0"/>
            </a:br>
            <a:endParaRPr lang="en-US" sz="1200" dirty="0">
              <a:latin typeface="+mj-lt"/>
            </a:endParaRPr>
          </a:p>
          <a:p>
            <a:pPr marL="0" lvl="1" fontAlgn="base">
              <a:defRPr/>
            </a:pPr>
            <a:r>
              <a:rPr lang="en-IN" sz="1100" b="1" dirty="0">
                <a:ea typeface="+mn-lt"/>
                <a:cs typeface="+mn-lt"/>
              </a:rPr>
              <a:t>Risks / Constraints / Updates</a:t>
            </a:r>
            <a:endParaRPr lang="en-US" sz="1200" b="1" dirty="0">
              <a:ea typeface="+mn-lt"/>
              <a:cs typeface="+mn-lt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A temporary reduction in throughput was observed during the latest sprint due to Himanshu's planned leave from 21–29 May 2026.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+mj-lt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8F58D3B-A9E0-4651-97D4-9BE811D8E4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3090281"/>
              </p:ext>
            </p:extLst>
          </p:nvPr>
        </p:nvGraphicFramePr>
        <p:xfrm>
          <a:off x="414607" y="781204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52D6298-CDFC-461B-A495-78DA5D0BEBA7}"/>
              </a:ext>
              <a:ext uri="{147F2762-F138-4A5C-976F-8EAC2B608ADB}">
                <a16:predDERef xmlns:a16="http://schemas.microsoft.com/office/drawing/2014/main" pred="{BDC04A81-9300-4231-8D5B-6176EC306C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2056046"/>
              </p:ext>
            </p:extLst>
          </p:nvPr>
        </p:nvGraphicFramePr>
        <p:xfrm>
          <a:off x="4217162" y="786334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6D171CF-7DCF-48AF-8578-F402903A5420}"/>
              </a:ext>
              <a:ext uri="{147F2762-F138-4A5C-976F-8EAC2B608ADB}">
                <a16:predDERef xmlns:a16="http://schemas.microsoft.com/office/drawing/2014/main" pred="{752D6298-CDFC-461B-A495-78DA5D0BEB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8811649"/>
              </p:ext>
            </p:extLst>
          </p:nvPr>
        </p:nvGraphicFramePr>
        <p:xfrm>
          <a:off x="8011455" y="781204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40444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4CC1-A4D3-7B08-39AD-AE2B284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87597-ACBB-DF93-3ADA-CB6DF2D0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200" y="233747"/>
            <a:ext cx="4894315" cy="425949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Project Metrics - Phoenix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081239-084D-B9DD-017D-99408DDF0A4C}"/>
              </a:ext>
            </a:extLst>
          </p:cNvPr>
          <p:cNvSpPr txBox="1"/>
          <p:nvPr/>
        </p:nvSpPr>
        <p:spPr>
          <a:xfrm>
            <a:off x="1009200" y="3663978"/>
            <a:ext cx="10200332" cy="2123658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1" dirty="0">
                <a:ea typeface="+mn-lt"/>
                <a:cs typeface="+mn-lt"/>
              </a:rPr>
              <a:t>Key Achievements and </a:t>
            </a:r>
            <a:r>
              <a:rPr lang="en-IN" sz="1100" b="1" dirty="0">
                <a:ea typeface="+mn-lt"/>
                <a:cs typeface="+mn-lt"/>
              </a:rPr>
              <a:t>Project Roadmap</a:t>
            </a:r>
            <a:endParaRPr lang="en-US" sz="1200" dirty="0">
              <a:latin typeface="+mj-lt"/>
            </a:endParaRPr>
          </a:p>
          <a:p>
            <a:pPr marL="171450" lvl="0" indent="-171450">
              <a:buFont typeface="Arial"/>
              <a:buChar char="•"/>
              <a:defRPr/>
            </a:pPr>
            <a:r>
              <a:rPr lang="en-IN" sz="1100" dirty="0">
                <a:latin typeface="+mj-lt"/>
              </a:rPr>
              <a:t>Continued delivery of the PHX – HIGH IMPACT initiative, with a focus on platform performance improvements, enhanced test coverage, and implementation of optimization recommendations.</a:t>
            </a:r>
          </a:p>
          <a:p>
            <a:pPr marL="171450" lvl="0" indent="-171450">
              <a:buFont typeface="Arial"/>
              <a:buChar char="•"/>
              <a:defRPr/>
            </a:pPr>
            <a:r>
              <a:rPr lang="en-IN" sz="1100" dirty="0">
                <a:latin typeface="+mj-lt"/>
              </a:rPr>
              <a:t>Throughput remained stable with a positive upward trend over the reporting period. A single ticket (3 story points) was reopened, resulting in minimal impact to overall delivery.</a:t>
            </a:r>
          </a:p>
          <a:p>
            <a:pPr marL="171450" lvl="0" indent="-171450">
              <a:buFont typeface="Arial"/>
              <a:buChar char="•"/>
              <a:defRPr/>
            </a:pPr>
            <a:r>
              <a:rPr lang="en-IN" sz="1100" dirty="0">
                <a:latin typeface="+mj-lt"/>
              </a:rPr>
              <a:t>No significant team-owned blockers or operational impediments impacted delivery during the reporting period.</a:t>
            </a:r>
            <a:br>
              <a:rPr lang="en-US" sz="1200" dirty="0">
                <a:latin typeface="+mj-lt"/>
              </a:rPr>
            </a:br>
            <a:endParaRPr lang="en-US" sz="1200" dirty="0">
              <a:latin typeface="+mj-lt"/>
            </a:endParaRPr>
          </a:p>
          <a:p>
            <a:pPr lvl="0">
              <a:defRPr/>
            </a:pPr>
            <a:r>
              <a:rPr lang="en-IN" sz="1100" b="1" dirty="0">
                <a:ea typeface="+mn-lt"/>
                <a:cs typeface="+mn-lt"/>
              </a:rPr>
              <a:t>Risks / Constraints / Updates</a:t>
            </a:r>
            <a:endParaRPr lang="en-US" sz="1200" b="1" dirty="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 dirty="0">
                <a:latin typeface="+mj-lt"/>
              </a:rPr>
              <a:t>No active delivery risks or operational constraints have been identified at this time.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00" dirty="0">
                <a:latin typeface="+mj-lt"/>
              </a:rPr>
              <a:t>The recent increase in rework volume will be monitored to ensure it remains driven by enhancement and review activities rather than implementation defects.</a:t>
            </a:r>
          </a:p>
          <a:p>
            <a:pPr marL="171450" indent="-171450">
              <a:buFont typeface="Arial"/>
              <a:buChar char="•"/>
              <a:defRPr/>
            </a:pPr>
            <a:endParaRPr lang="en-US" sz="1200" dirty="0">
              <a:latin typeface="+mj-lt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8DFF35F-FE54-44C9-A49C-42ED6AA41356}"/>
              </a:ext>
              <a:ext uri="{147F2762-F138-4A5C-976F-8EAC2B608ADB}">
                <a16:predDERef xmlns:a16="http://schemas.microsoft.com/office/drawing/2014/main" pred="{1F74242C-22CD-4238-8F78-EB6914D5E4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685603"/>
              </p:ext>
            </p:extLst>
          </p:nvPr>
        </p:nvGraphicFramePr>
        <p:xfrm>
          <a:off x="6096000" y="800729"/>
          <a:ext cx="5100166" cy="2751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53184A-EA19-466D-A949-A2E2D4B5CB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6635792"/>
              </p:ext>
            </p:extLst>
          </p:nvPr>
        </p:nvGraphicFramePr>
        <p:xfrm>
          <a:off x="1009200" y="800730"/>
          <a:ext cx="5008828" cy="2761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1223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6911C4-7CB0-9D40-9015-C7EC2F14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56" y="221780"/>
            <a:ext cx="4563574" cy="413763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Project Metrics - SLE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A817D-9B6E-EF6E-D9D0-E5EAB1F6D7C2}"/>
              </a:ext>
            </a:extLst>
          </p:cNvPr>
          <p:cNvSpPr txBox="1"/>
          <p:nvPr/>
        </p:nvSpPr>
        <p:spPr>
          <a:xfrm>
            <a:off x="411805" y="3674322"/>
            <a:ext cx="11277956" cy="249299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1200" b="1" dirty="0">
                <a:ea typeface="+mn-lt"/>
                <a:cs typeface="+mn-lt"/>
              </a:rPr>
              <a:t>Key Achievements and 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endParaRPr lang="en-US" sz="1200" dirty="0">
              <a:ea typeface="+mn-lt"/>
              <a:cs typeface="+mn-lt"/>
            </a:endParaRPr>
          </a:p>
          <a:p>
            <a:pPr marL="285750" lvl="1" indent="-285750">
              <a:buFont typeface="Arial"/>
              <a:buChar char="•"/>
              <a:defRPr/>
            </a:pPr>
            <a:r>
              <a:rPr sz="1200"/>
              <a:t>Doing dev review for other UI tickets</a:t>
            </a:r>
            <a:endParaRPr lang="en-US" sz="1200" dirty="0">
              <a:ea typeface="+mn-lt"/>
              <a:cs typeface="+mn-lt"/>
            </a:endParaRPr>
          </a:p>
          <a:p>
            <a:pPr marL="285750" lvl="1" indent="-285750">
              <a:buFont typeface="Arial"/>
              <a:buChar char="•"/>
              <a:defRPr/>
            </a:pPr>
            <a:r>
              <a:rPr sz="1200"/>
              <a:t>Helping team members whenever needed in slack to identify any issues in Canopy</a:t>
            </a:r>
            <a:endParaRPr lang="en-US" sz="1200" dirty="0">
              <a:ea typeface="+mn-lt"/>
              <a:cs typeface="+mn-lt"/>
            </a:endParaRPr>
          </a:p>
          <a:p>
            <a:pPr marL="0" lvl="1">
              <a:defRPr/>
            </a:pPr>
            <a:r>
              <a:rPr lang="en-IN" sz="1200" b="1" dirty="0">
                <a:ea typeface="+mn-lt"/>
                <a:cs typeface="+mn-lt"/>
              </a:rPr>
              <a:t>Risks / Constraints / Updates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+mj-lt"/>
              </a:rPr>
              <a:t>The SLE board has transitioned from a sprint-based model to Kanban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+mj-lt"/>
              </a:rPr>
              <a:t>Dependency related work may continue to impact ticket status changes and reopen metrics</a:t>
            </a:r>
            <a:endParaRPr lang="en-US" sz="1200" dirty="0">
              <a:latin typeface="+mj-lt"/>
              <a:ea typeface="+mn-lt"/>
              <a:cs typeface="+mn-lt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577D642-068A-4DD8-9F10-387144DFD826}"/>
              </a:ext>
              <a:ext uri="{147F2762-F138-4A5C-976F-8EAC2B608ADB}">
                <a16:predDERef xmlns:a16="http://schemas.microsoft.com/office/drawing/2014/main" pred="{CC190FBE-8058-410D-ABB7-C5822F9CD7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4010105"/>
              </p:ext>
            </p:extLst>
          </p:nvPr>
        </p:nvGraphicFramePr>
        <p:xfrm>
          <a:off x="6167103" y="823604"/>
          <a:ext cx="552265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146E8AE-32B3-42C0-A38E-ADE33304F6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9540222"/>
              </p:ext>
            </p:extLst>
          </p:nvPr>
        </p:nvGraphicFramePr>
        <p:xfrm>
          <a:off x="411804" y="823604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1574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4CC1-A4D3-7B08-39AD-AE2B284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87597-ACBB-DF93-3ADA-CB6DF2D0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15" y="374973"/>
            <a:ext cx="3717268" cy="367583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Project Metrics - </a:t>
            </a:r>
            <a:r>
              <a:rPr lang="en-IN" sz="2400" b="1" dirty="0"/>
              <a:t>FLEX</a:t>
            </a:r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E6C96-03A0-E7EF-ED3A-2A93AD913E7D}"/>
              </a:ext>
            </a:extLst>
          </p:cNvPr>
          <p:cNvSpPr txBox="1"/>
          <p:nvPr/>
        </p:nvSpPr>
        <p:spPr>
          <a:xfrm>
            <a:off x="426715" y="3904585"/>
            <a:ext cx="11270476" cy="193899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ea typeface="+mn-lt"/>
                <a:cs typeface="+mn-lt"/>
              </a:rPr>
              <a:t>Key Achievements and 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endParaRPr lang="en-US" sz="1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sz="1200"/>
              <a:t>FLEX-784: Funnels Cross Sell variations.</a:t>
            </a:r>
            <a:endParaRPr lang="en-US" sz="1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sz="1200"/>
              <a:t>Flex-584: Identity Verification in BL &amp; HE is very close to completion.</a:t>
            </a:r>
            <a:endParaRPr lang="en-US" sz="1200" dirty="0">
              <a:ea typeface="+mn-lt"/>
              <a:cs typeface="+mn-lt"/>
            </a:endParaRPr>
          </a:p>
          <a:p>
            <a:r>
              <a:rPr lang="en-IN" sz="1200" b="1" dirty="0">
                <a:ea typeface="+mn-lt"/>
                <a:cs typeface="+mn-lt"/>
              </a:rPr>
              <a:t>Risks / Constraints / Updates</a:t>
            </a:r>
            <a:endParaRPr lang="en-US" sz="12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+mj-lt"/>
              </a:rPr>
              <a:t>QA bandwidth remains a constraint, with a current ratio of 6 developers to 2 QA engineers.</a:t>
            </a: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+mj-lt"/>
              </a:rPr>
              <a:t>Dependencies on external teams for API availability, code reviews, and testing support may impact delivery timelines and sprint predictability.</a:t>
            </a:r>
            <a:endParaRPr lang="en-US" sz="1200" dirty="0">
              <a:ea typeface="+mn-lt"/>
              <a:cs typeface="+mn-lt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C1B70AD-5D8C-4D0D-901C-A561FD0A60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089623"/>
              </p:ext>
            </p:extLst>
          </p:nvPr>
        </p:nvGraphicFramePr>
        <p:xfrm>
          <a:off x="426715" y="951970"/>
          <a:ext cx="3657600" cy="2743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B7C7B91-747A-4A28-825E-C21444DA9DB9}"/>
              </a:ext>
              <a:ext uri="{147F2762-F138-4A5C-976F-8EAC2B608ADB}">
                <a16:predDERef xmlns:a16="http://schemas.microsoft.com/office/drawing/2014/main" pred="{192933B5-AB03-48D9-A545-EFEFA82BFC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8676017"/>
              </p:ext>
            </p:extLst>
          </p:nvPr>
        </p:nvGraphicFramePr>
        <p:xfrm>
          <a:off x="4233153" y="951968"/>
          <a:ext cx="3657600" cy="2743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58069C7-6026-4D42-A498-6ED3260B7326}"/>
              </a:ext>
              <a:ext uri="{147F2762-F138-4A5C-976F-8EAC2B608ADB}">
                <a16:predDERef xmlns:a16="http://schemas.microsoft.com/office/drawing/2014/main" pred="{CB7C7B91-747A-4A28-825E-C21444DA9D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088024"/>
              </p:ext>
            </p:extLst>
          </p:nvPr>
        </p:nvGraphicFramePr>
        <p:xfrm>
          <a:off x="8039591" y="951969"/>
          <a:ext cx="3657600" cy="2743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37785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DBA050-ACA2-CF49-9BD4-5EBFE3BB6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0578446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08979F0-0008-54E4-3BF5-839D31061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Key Contributions Beyond Ticket Goals</a:t>
            </a:r>
            <a:endParaRPr lang="en-IN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62105-343F-2CB4-3B03-91FA191AEF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484880" y="6364022"/>
            <a:ext cx="2133600" cy="365125"/>
          </a:xfrm>
        </p:spPr>
        <p:txBody>
          <a:bodyPr/>
          <a:lstStyle/>
          <a:p>
            <a:fld id="{851CCF73-8DE0-4D4A-B3BF-D2A5C73C1DC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A855D-8DD5-9A52-2924-13BC420C0C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Helping tester to test all kinds of scenarios for the tickets and other application validation support.</a:t>
            </a:r>
          </a:p>
          <a:p>
            <a:r>
              <a:rPr lang="en-US" dirty="0"/>
              <a:t>Deployment support.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D7DD1A3-2468-F3F7-E693-30AED34AF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>
            <a:normAutofit fontScale="90000"/>
          </a:bodyPr>
          <a:lstStyle/>
          <a:p>
            <a:r>
              <a:rPr lang="en-US" dirty="0"/>
              <a:t>Key Contributions Beyond Ticket Goals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FE3FA-3DB5-3DB1-4872-B6B2F613D9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484880" y="6364022"/>
            <a:ext cx="2133600" cy="365125"/>
          </a:xfrm>
        </p:spPr>
        <p:txBody>
          <a:bodyPr/>
          <a:lstStyle/>
          <a:p>
            <a:fld id="{851CCF73-8DE0-4D4A-B3BF-D2A5C73C1DC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663FD-8B75-F41D-356B-7557BDA3A0D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</p:spPr>
        <p:txBody>
          <a:bodyPr/>
          <a:lstStyle/>
          <a:p>
            <a:pPr fontAlgn="ctr"/>
            <a:r>
              <a:rPr lang="en-US" sz="1600" dirty="0"/>
              <a:t>Doing dev review for other UI tickets </a:t>
            </a:r>
          </a:p>
          <a:p>
            <a:pPr fontAlgn="ctr"/>
            <a:r>
              <a:rPr lang="en-US" sz="1600" dirty="0"/>
              <a:t>Helping team members whenever needed in slack to identify any issues in Canopy </a:t>
            </a:r>
            <a:endParaRPr lang="en-IN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Key Achievements</a:t>
            </a:r>
            <a:endParaRPr lang="en-IN" sz="2800" b="1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3484880" y="6364022"/>
            <a:ext cx="2133600" cy="365125"/>
          </a:xfrm>
        </p:spPr>
        <p:txBody>
          <a:bodyPr/>
          <a:lstStyle/>
          <a:p>
            <a:fld id="{851CCF73-8DE0-4D4A-B3BF-D2A5C73C1DC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E65-5838-4B62-BE09-67B4659ACCF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</p:spPr>
        <p:txBody>
          <a:bodyPr>
            <a:normAutofit/>
          </a:bodyPr>
          <a:lstStyle/>
          <a:p>
            <a:pPr lvl="1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FLEX-784: 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Funnels Cross Sell variations.</a:t>
            </a:r>
          </a:p>
          <a:p>
            <a:pPr lvl="1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Flex-584</a:t>
            </a:r>
            <a:r>
              <a:rPr lang="en-US" b="1" dirty="0">
                <a:solidFill>
                  <a:srgbClr val="333333"/>
                </a:solidFill>
                <a:latin typeface="-apple-system"/>
              </a:rPr>
              <a:t>: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 Identity Verification in BL &amp; HE is very close to completion.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2Solutions com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V2Solution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6518e7-0f18-407f-b97b-b4d4cfdf164f">
      <Terms xmlns="http://schemas.microsoft.com/office/infopath/2007/PartnerControls"/>
    </lcf76f155ced4ddcb4097134ff3c332f>
    <TaxCatchAll xmlns="f6ca3b7a-ed90-44d3-966d-51faaa03dbee" xsi:nil="true"/>
    <_Flow_SignoffStatus xmlns="046518e7-0f18-407f-b97b-b4d4cfdf164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F51A07410DA4796335AE0E37182C8" ma:contentTypeVersion="19" ma:contentTypeDescription="Create a new document." ma:contentTypeScope="" ma:versionID="22ebe8afd8951949f27d0da5905bddd2">
  <xsd:schema xmlns:xsd="http://www.w3.org/2001/XMLSchema" xmlns:xs="http://www.w3.org/2001/XMLSchema" xmlns:p="http://schemas.microsoft.com/office/2006/metadata/properties" xmlns:ns1="http://schemas.microsoft.com/sharepoint/v3" xmlns:ns2="7dc618e8-2c3f-4647-bc5c-9f4e2915a0a5" xmlns:ns3="046518e7-0f18-407f-b97b-b4d4cfdf164f" xmlns:ns4="f6ca3b7a-ed90-44d3-966d-51faaa03dbee" targetNamespace="http://schemas.microsoft.com/office/2006/metadata/properties" ma:root="true" ma:fieldsID="52a58515a6f49b08cfb038762f23b808" ns1:_="" ns2:_="" ns3:_="" ns4:_="">
    <xsd:import namespace="http://schemas.microsoft.com/sharepoint/v3"/>
    <xsd:import namespace="7dc618e8-2c3f-4647-bc5c-9f4e2915a0a5"/>
    <xsd:import namespace="046518e7-0f18-407f-b97b-b4d4cfdf164f"/>
    <xsd:import namespace="f6ca3b7a-ed90-44d3-966d-51faaa03dbe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618e8-2c3f-4647-bc5c-9f4e2915a0a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518e7-0f18-407f-b97b-b4d4cfdf16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b49b1b5-e1a3-4ded-b450-0d3f728304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ca3b7a-ed90-44d3-966d-51faaa03dbe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62a73140-1673-4915-b6ea-101c7ce12dd5}" ma:internalName="TaxCatchAll" ma:showField="CatchAllData" ma:web="f6ca3b7a-ed90-44d3-966d-51faaa03db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6C40C1-5535-47D2-860A-B820DA190510}">
  <ds:schemaRefs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f6ca3b7a-ed90-44d3-966d-51faaa03dbee"/>
    <ds:schemaRef ds:uri="http://schemas.microsoft.com/office/2006/documentManagement/types"/>
    <ds:schemaRef ds:uri="http://purl.org/dc/terms/"/>
    <ds:schemaRef ds:uri="http://purl.org/dc/dcmitype/"/>
    <ds:schemaRef ds:uri="046518e7-0f18-407f-b97b-b4d4cfdf164f"/>
    <ds:schemaRef ds:uri="7dc618e8-2c3f-4647-bc5c-9f4e2915a0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3493C01-6125-4EA1-98C7-594C79593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dc618e8-2c3f-4647-bc5c-9f4e2915a0a5"/>
    <ds:schemaRef ds:uri="046518e7-0f18-407f-b97b-b4d4cfdf164f"/>
    <ds:schemaRef ds:uri="f6ca3b7a-ed90-44d3-966d-51faaa03db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5E1ABE-5870-4DE4-99C9-24205762D2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12381</TotalTime>
  <Words>1841</Words>
  <Application>Microsoft Office PowerPoint</Application>
  <PresentationFormat>Widescreen</PresentationFormat>
  <Paragraphs>226</Paragraphs>
  <Slides>14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V2Solutions common Theme</vt:lpstr>
      <vt:lpstr>1_V2Solutions Theme</vt:lpstr>
      <vt:lpstr>Monthly Business Review LendingTree (LT)</vt:lpstr>
      <vt:lpstr>LT–V2 Joint Delivery Snapshot</vt:lpstr>
      <vt:lpstr>LT–V2 Joint Delivery Snapshot | Key Highlights Across Workstreams</vt:lpstr>
      <vt:lpstr>LT–V2 Joint Delivery Snapshot | Key Highlights Across Workstreams</vt:lpstr>
      <vt:lpstr>Suggestions | Recommendations | Next Steps </vt:lpstr>
      <vt:lpstr>Project Details</vt:lpstr>
      <vt:lpstr>Project Metrics- Consumer Web</vt:lpstr>
      <vt:lpstr>Project Metrics – Consumer Experience Team (CET)</vt:lpstr>
      <vt:lpstr>Project Metrics – WordPress Modernization Scrum</vt:lpstr>
      <vt:lpstr>Project Metrics - SEOD</vt:lpstr>
      <vt:lpstr>Project Metrics - Phoenix - Forms</vt:lpstr>
      <vt:lpstr>Project Metrics - SLE</vt:lpstr>
      <vt:lpstr>Project Metrics - FLEX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Nagarajan P</dc:creator>
  <cp:lastModifiedBy>Kunal Badgujar</cp:lastModifiedBy>
  <cp:revision>185</cp:revision>
  <dcterms:created xsi:type="dcterms:W3CDTF">2020-07-15T13:45:08Z</dcterms:created>
  <dcterms:modified xsi:type="dcterms:W3CDTF">2026-06-09T17:36:55Z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0x010100C6BF51A07410DA4796335AE0E37182C8</vt:lpwstr>
  </property>
  <property fmtid="{D5CDD505-2E9C-101B-9397-08002B2CF9AE}" pid="3" name="MediaServiceImageTags">
    <vt:lpwstr/>
  </property>
  <property fmtid="{D5CDD505-2E9C-101B-9397-08002B2CF9AE}" pid="4" name="MSIP_Label_e3e786b2-ef79-4252-9418-a599d6e0ff72_Enabled">
    <vt:lpwstr>true</vt:lpwstr>
  </property>
  <property fmtid="{D5CDD505-2E9C-101B-9397-08002B2CF9AE}" pid="5" name="MSIP_Label_e3e786b2-ef79-4252-9418-a599d6e0ff72_SetDate">
    <vt:lpwstr>2026-06-09T17:36:55Z</vt:lpwstr>
  </property>
  <property fmtid="{D5CDD505-2E9C-101B-9397-08002B2CF9AE}" pid="6" name="MSIP_Label_e3e786b2-ef79-4252-9418-a599d6e0ff72_Method">
    <vt:lpwstr>Standard</vt:lpwstr>
  </property>
  <property fmtid="{D5CDD505-2E9C-101B-9397-08002B2CF9AE}" pid="7" name="MSIP_Label_e3e786b2-ef79-4252-9418-a599d6e0ff72_Name">
    <vt:lpwstr>General</vt:lpwstr>
  </property>
  <property fmtid="{D5CDD505-2E9C-101B-9397-08002B2CF9AE}" pid="8" name="MSIP_Label_e3e786b2-ef79-4252-9418-a599d6e0ff72_SiteId">
    <vt:lpwstr>44f25491-b1f2-4e5f-bd69-3f86d878fc5a</vt:lpwstr>
  </property>
  <property fmtid="{D5CDD505-2E9C-101B-9397-08002B2CF9AE}" pid="9" name="MSIP_Label_e3e786b2-ef79-4252-9418-a599d6e0ff72_ActionId">
    <vt:lpwstr>451c7937-702f-49d9-8cf8-18f4d2ee5b79</vt:lpwstr>
  </property>
  <property fmtid="{D5CDD505-2E9C-101B-9397-08002B2CF9AE}" pid="10" name="MSIP_Label_e3e786b2-ef79-4252-9418-a599d6e0ff72_ContentBits">
    <vt:lpwstr>0</vt:lpwstr>
  </property>
  <property fmtid="{D5CDD505-2E9C-101B-9397-08002B2CF9AE}" pid="11" name="MSIP_Label_e3e786b2-ef79-4252-9418-a599d6e0ff72_Tag">
    <vt:lpwstr>10, 3, 0, 2</vt:lpwstr>
  </property>
</Properties>
</file>