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4"/>
  </p:sldMasterIdLst>
  <p:sldIdLst>
    <p:sldId id="275" r:id="rId5"/>
    <p:sldId id="259" r:id="rId6"/>
    <p:sldId id="257" r:id="rId7"/>
    <p:sldId id="295" r:id="rId8"/>
    <p:sldId id="296" r:id="rId9"/>
    <p:sldId id="297" r:id="rId10"/>
    <p:sldId id="293" r:id="rId11"/>
    <p:sldId id="299" r:id="rId12"/>
    <p:sldId id="279" r:id="rId13"/>
    <p:sldId id="294" r:id="rId14"/>
    <p:sldId id="27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9130" autoAdjust="0"/>
  </p:normalViewPr>
  <p:slideViewPr>
    <p:cSldViewPr snapToGrid="0" snapToObjects="1">
      <p:cViewPr varScale="1">
        <p:scale>
          <a:sx n="106" d="100"/>
          <a:sy n="106" d="100"/>
        </p:scale>
        <p:origin x="115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Placeholder 21"/>
          <p:cNvSpPr>
            <a:spLocks noGrp="1"/>
          </p:cNvSpPr>
          <p:nvPr>
            <p:ph type="title"/>
          </p:nvPr>
        </p:nvSpPr>
        <p:spPr>
          <a:xfrm>
            <a:off x="1357098" y="3505200"/>
            <a:ext cx="6438901" cy="762000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algn="ctr">
              <a:defRPr sz="2000">
                <a:latin typeface="Arial"/>
                <a:cs typeface="Arial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768022" y="4185903"/>
            <a:ext cx="3664330" cy="52038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pic>
        <p:nvPicPr>
          <p:cNvPr id="3" name="Picture 2" descr="V2Solutions_Logo_Stacked_2014_09_1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8675" y="1230790"/>
            <a:ext cx="3653677" cy="22740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81322" y="4881036"/>
            <a:ext cx="3657568" cy="729125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2781322" y="6258560"/>
            <a:ext cx="3657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94342"/>
                </a:solidFill>
              </a:rPr>
              <a:t>2340</a:t>
            </a:r>
            <a:r>
              <a:rPr lang="en-US" sz="1000" baseline="0" dirty="0">
                <a:solidFill>
                  <a:srgbClr val="494342"/>
                </a:solidFill>
              </a:rPr>
              <a:t> D. Walsh Ave, Santa Clara, CA. 95051 </a:t>
            </a:r>
            <a:endParaRPr lang="en-US" sz="1000" dirty="0">
              <a:solidFill>
                <a:srgbClr val="49434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100000"/>
              <a:buFont typeface="Arial"/>
              <a:buNone/>
              <a:defRPr sz="2400"/>
            </a:lvl1pPr>
            <a:lvl2pPr marL="365760" indent="0">
              <a:buSzPct val="60000"/>
              <a:buFont typeface="Arial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Arial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Arial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95710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no Bold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bg2"/>
              </a:buClr>
              <a:buSzPct val="70000"/>
              <a:buFont typeface="Wingdings" charset="2"/>
              <a:buNone/>
              <a:defRPr sz="2200" b="0" i="0">
                <a:latin typeface="Gill Sans Light"/>
                <a:cs typeface="Gill Sans Light"/>
              </a:defRPr>
            </a:lvl1pPr>
            <a:lvl2pPr marL="365760" indent="0">
              <a:buSzPct val="60000"/>
              <a:buFont typeface="Wingdings" charset="2"/>
              <a:buNone/>
              <a:defRPr sz="2000"/>
            </a:lvl2pPr>
            <a:lvl3pPr marL="685800" indent="0">
              <a:buClr>
                <a:schemeClr val="tx2"/>
              </a:buClr>
              <a:buSzPct val="125000"/>
              <a:buFont typeface="Arial"/>
              <a:buNone/>
              <a:defRPr sz="1800"/>
            </a:lvl3pPr>
            <a:lvl4pPr marL="1143000" indent="0">
              <a:buClr>
                <a:schemeClr val="accent1"/>
              </a:buClr>
              <a:buSzPct val="90000"/>
              <a:buFont typeface="Courier New"/>
              <a:buNone/>
              <a:defRPr sz="1600"/>
            </a:lvl4pPr>
            <a:lvl5pPr marL="1600200" indent="0">
              <a:buClr>
                <a:schemeClr val="accent2"/>
              </a:buClr>
              <a:buSzPct val="90000"/>
              <a:buFont typeface="Courier New"/>
              <a:buNone/>
              <a:defRPr sz="1400"/>
            </a:lvl5pPr>
            <a:lvl6pPr marL="187452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6pPr>
            <a:lvl7pPr marL="214884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7pPr>
            <a:lvl8pPr marL="242316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8pPr>
            <a:lvl9pPr marL="2697480" indent="0">
              <a:buFont typeface="Arial"/>
              <a:buNone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117858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4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rgbClr val="2D81AF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382220" y="2006663"/>
            <a:ext cx="1136984" cy="1136985"/>
            <a:chOff x="1687021" y="2717864"/>
            <a:chExt cx="981540" cy="981541"/>
          </a:xfrm>
        </p:grpSpPr>
        <p:sp>
          <p:nvSpPr>
            <p:cNvPr id="15" name="Shape 95"/>
            <p:cNvSpPr/>
            <p:nvPr userDrawn="1"/>
          </p:nvSpPr>
          <p:spPr>
            <a:xfrm>
              <a:off x="1687021" y="2717864"/>
              <a:ext cx="981540" cy="981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/>
              <a:endParaRPr/>
            </a:p>
          </p:txBody>
        </p:sp>
        <p:grpSp>
          <p:nvGrpSpPr>
            <p:cNvPr id="16" name="Group 101"/>
            <p:cNvGrpSpPr>
              <a:grpSpLocks noChangeAspect="1"/>
            </p:cNvGrpSpPr>
            <p:nvPr userDrawn="1"/>
          </p:nvGrpSpPr>
          <p:grpSpPr>
            <a:xfrm>
              <a:off x="1728067" y="2758909"/>
              <a:ext cx="899447" cy="899448"/>
              <a:chOff x="0" y="0"/>
              <a:chExt cx="1280160" cy="1280160"/>
            </a:xfrm>
          </p:grpSpPr>
          <p:sp>
            <p:nvSpPr>
              <p:cNvPr id="17" name="Shape 96"/>
              <p:cNvSpPr/>
              <p:nvPr/>
            </p:nvSpPr>
            <p:spPr>
              <a:xfrm rot="16200000">
                <a:off x="-1" y="0"/>
                <a:ext cx="1280162" cy="12801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rgbClr val="76B1CD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grpSp>
            <p:nvGrpSpPr>
              <p:cNvPr id="18" name="Group 100"/>
              <p:cNvGrpSpPr/>
              <p:nvPr/>
            </p:nvGrpSpPr>
            <p:grpSpPr>
              <a:xfrm>
                <a:off x="464661" y="363060"/>
                <a:ext cx="350838" cy="583344"/>
                <a:chOff x="0" y="0"/>
                <a:chExt cx="350837" cy="583342"/>
              </a:xfrm>
            </p:grpSpPr>
            <p:sp>
              <p:nvSpPr>
                <p:cNvPr id="19" name="Shape 97"/>
                <p:cNvSpPr/>
                <p:nvPr/>
              </p:nvSpPr>
              <p:spPr>
                <a:xfrm>
                  <a:off x="-1" y="-1"/>
                  <a:ext cx="350839" cy="5833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414"/>
                      </a:moveTo>
                      <a:lnTo>
                        <a:pt x="0" y="0"/>
                      </a:lnTo>
                      <a:lnTo>
                        <a:pt x="21600" y="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0" name="Shape 98"/>
                <p:cNvSpPr/>
                <p:nvPr/>
              </p:nvSpPr>
              <p:spPr>
                <a:xfrm>
                  <a:off x="59795" y="44957"/>
                  <a:ext cx="243057" cy="5237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426" y="0"/>
                      </a:moveTo>
                      <a:lnTo>
                        <a:pt x="0" y="0"/>
                      </a:lnTo>
                      <a:lnTo>
                        <a:pt x="0" y="18544"/>
                      </a:lnTo>
                      <a:lnTo>
                        <a:pt x="21600" y="21600"/>
                      </a:lnTo>
                      <a:lnTo>
                        <a:pt x="21426" y="0"/>
                      </a:ln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/>
                  <a:endParaRPr/>
                </a:p>
              </p:txBody>
            </p:sp>
            <p:sp>
              <p:nvSpPr>
                <p:cNvPr id="21" name="Shape 99"/>
                <p:cNvSpPr/>
                <p:nvPr/>
              </p:nvSpPr>
              <p:spPr>
                <a:xfrm>
                  <a:off x="95442" y="249214"/>
                  <a:ext cx="30481" cy="304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noFill/>
                <a:ln w="19050" cap="flat">
                  <a:solidFill>
                    <a:srgbClr val="FFFFFF"/>
                  </a:solidFill>
                  <a:prstDash val="solid"/>
                  <a:bevel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 algn="ctr">
                    <a:defRPr>
                      <a:solidFill>
                        <a:srgbClr val="FFFFFF"/>
                      </a:solidFill>
                    </a:defRPr>
                  </a:pPr>
                  <a:endParaRPr/>
                </a:p>
              </p:txBody>
            </p:sp>
          </p:grpSp>
        </p:grpSp>
      </p:grp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se Study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7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0" name="Shape 92"/>
          <p:cNvSpPr/>
          <p:nvPr/>
        </p:nvSpPr>
        <p:spPr>
          <a:xfrm>
            <a:off x="-2248" y="2545976"/>
            <a:ext cx="7513594" cy="1"/>
          </a:xfrm>
          <a:prstGeom prst="line">
            <a:avLst/>
          </a:prstGeom>
          <a:ln w="889000">
            <a:solidFill>
              <a:schemeClr val="tx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11" name="Shape 93"/>
          <p:cNvSpPr/>
          <p:nvPr/>
        </p:nvSpPr>
        <p:spPr>
          <a:xfrm>
            <a:off x="7650936" y="2545976"/>
            <a:ext cx="1509104" cy="1"/>
          </a:xfrm>
          <a:prstGeom prst="line">
            <a:avLst/>
          </a:prstGeom>
          <a:ln w="889000">
            <a:solidFill>
              <a:schemeClr val="bg2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734705" y="2204135"/>
            <a:ext cx="4776641" cy="709084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13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3" y="1999877"/>
            <a:ext cx="1143000" cy="1143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5242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7" name="Content Placeholder 7"/>
          <p:cNvSpPr>
            <a:spLocks noGrp="1"/>
          </p:cNvSpPr>
          <p:nvPr>
            <p:ph sz="quarter" idx="11"/>
          </p:nvPr>
        </p:nvSpPr>
        <p:spPr>
          <a:xfrm>
            <a:off x="4679189" y="1206502"/>
            <a:ext cx="3824731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9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193800"/>
            <a:ext cx="3886200" cy="640080"/>
          </a:xfrm>
          <a:solidFill>
            <a:schemeClr val="accent1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597400" y="11938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7"/>
          <p:cNvSpPr>
            <a:spLocks noGrp="1"/>
          </p:cNvSpPr>
          <p:nvPr>
            <p:ph sz="quarter" idx="11"/>
          </p:nvPr>
        </p:nvSpPr>
        <p:spPr>
          <a:xfrm>
            <a:off x="62534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  <p:sp>
        <p:nvSpPr>
          <p:cNvPr id="10" name="Content Placeholder 7"/>
          <p:cNvSpPr>
            <a:spLocks noGrp="1"/>
          </p:cNvSpPr>
          <p:nvPr>
            <p:ph sz="quarter" idx="12"/>
          </p:nvPr>
        </p:nvSpPr>
        <p:spPr>
          <a:xfrm>
            <a:off x="4679189" y="2032000"/>
            <a:ext cx="3824731" cy="3903979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0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44120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219200"/>
            <a:ext cx="1600200" cy="4736592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438901" cy="709084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2438400" y="1206502"/>
            <a:ext cx="6077712" cy="4729477"/>
          </a:xfrm>
          <a:prstGeom prst="rect">
            <a:avLst/>
          </a:prstGeom>
        </p:spPr>
        <p:txBody>
          <a:bodyPr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641600"/>
            <a:ext cx="9144000" cy="1536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Thank</a:t>
            </a:r>
            <a:r>
              <a:rPr lang="en-US" sz="2800" baseline="0" dirty="0"/>
              <a:t> You</a:t>
            </a:r>
            <a:endParaRPr lang="en-US" sz="2800" dirty="0"/>
          </a:p>
        </p:txBody>
      </p:sp>
      <p:pic>
        <p:nvPicPr>
          <p:cNvPr id="2" name="Picture 1" descr="V2Solutions_Logo_Stacked_No_Tag_2014_09_1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90" y="584200"/>
            <a:ext cx="330635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1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7"/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729477"/>
          </a:xfrm>
          <a:prstGeom prst="rect">
            <a:avLst/>
          </a:prstGeom>
        </p:spPr>
        <p:txBody>
          <a:bodyPr vert="vert"/>
          <a:lstStyle>
            <a:lvl1pPr marL="320040" indent="-320040">
              <a:buClr>
                <a:schemeClr val="bg2"/>
              </a:buClr>
              <a:buSzPct val="70000"/>
              <a:buFont typeface="Wingdings" charset="2"/>
              <a:buChar char=""/>
              <a:defRPr sz="2400"/>
            </a:lvl1pPr>
            <a:lvl2pPr marL="640080" indent="-274320">
              <a:buClr>
                <a:schemeClr val="tx2"/>
              </a:buClr>
              <a:buSzPct val="65000"/>
              <a:buFont typeface="Wingdings" charset="2"/>
              <a:buChar char=""/>
              <a:defRPr sz="2000"/>
            </a:lvl2pPr>
            <a:lvl3pPr marL="914400" indent="-228600">
              <a:buClr>
                <a:schemeClr val="accent2"/>
              </a:buClr>
              <a:buSzPct val="90000"/>
              <a:buFont typeface="Courier New"/>
              <a:buChar char="o"/>
              <a:defRPr sz="1800"/>
            </a:lvl3pPr>
            <a:lvl4pPr marL="1371600" indent="-228600">
              <a:buClr>
                <a:schemeClr val="accent1"/>
              </a:buClr>
              <a:buSzPct val="90000"/>
              <a:buFont typeface="Courier New"/>
              <a:buChar char="o"/>
              <a:defRPr sz="1600"/>
            </a:lvl4pPr>
            <a:lvl5pPr marL="1828800" indent="-228600">
              <a:buClr>
                <a:schemeClr val="accent6"/>
              </a:buClr>
              <a:buSzPct val="90000"/>
              <a:buFont typeface="Courier New"/>
              <a:buChar char="o"/>
              <a:defRPr sz="1400"/>
            </a:lvl5pPr>
            <a:lvl6pPr marL="2045970" indent="-171450">
              <a:buClr>
                <a:schemeClr val="accent3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6pPr>
            <a:lvl7pPr marL="2377440" indent="-228600">
              <a:buClr>
                <a:schemeClr val="accent4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7pPr>
            <a:lvl8pPr marL="2651760" indent="-228600">
              <a:buClr>
                <a:schemeClr val="accent5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8pPr>
            <a:lvl9pPr marL="2926080" indent="-228600">
              <a:buClr>
                <a:schemeClr val="bg2"/>
              </a:buClr>
              <a:buFont typeface="Courier New"/>
              <a:buChar char="o"/>
              <a:defRPr sz="1200" b="0" i="0">
                <a:latin typeface="Gill Sans Light"/>
                <a:cs typeface="Gill Sans Light"/>
              </a:defRPr>
            </a:lvl9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</a:p>
          <a:p>
            <a:pPr lvl="5" eaLnBrk="1" latinLnBrk="0" hangingPunct="1"/>
            <a:r>
              <a:rPr kumimoji="0" lang="en-US" dirty="0"/>
              <a:t>Sixth level</a:t>
            </a:r>
          </a:p>
          <a:p>
            <a:pPr lvl="6" eaLnBrk="1" latinLnBrk="0" hangingPunct="1"/>
            <a:r>
              <a:rPr kumimoji="0" lang="en-US" dirty="0"/>
              <a:t>Seventh level</a:t>
            </a:r>
          </a:p>
          <a:p>
            <a:pPr lvl="7" eaLnBrk="1" latinLnBrk="0" hangingPunct="1"/>
            <a:r>
              <a:rPr kumimoji="0" lang="en-US" dirty="0"/>
              <a:t>Eighth level</a:t>
            </a:r>
          </a:p>
          <a:p>
            <a:pPr lvl="8" eaLnBrk="1" latinLnBrk="0" hangingPunct="1"/>
            <a:r>
              <a:rPr kumimoji="0" lang="en-US" dirty="0"/>
              <a:t>Ninth level</a:t>
            </a:r>
          </a:p>
          <a:p>
            <a:pPr lvl="8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39700"/>
            <a:ext cx="6607646" cy="709084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193800"/>
            <a:ext cx="7886700" cy="47371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30" name="Shape 34"/>
          <p:cNvSpPr/>
          <p:nvPr/>
        </p:nvSpPr>
        <p:spPr>
          <a:xfrm>
            <a:off x="-1424" y="869723"/>
            <a:ext cx="7218670" cy="1"/>
          </a:xfrm>
          <a:prstGeom prst="line">
            <a:avLst/>
          </a:prstGeom>
          <a:ln w="381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 dirty="0"/>
          </a:p>
        </p:txBody>
      </p:sp>
      <p:sp>
        <p:nvSpPr>
          <p:cNvPr id="32" name="Shape 37"/>
          <p:cNvSpPr/>
          <p:nvPr/>
        </p:nvSpPr>
        <p:spPr>
          <a:xfrm>
            <a:off x="-17827" y="6249246"/>
            <a:ext cx="6543135" cy="1"/>
          </a:xfrm>
          <a:prstGeom prst="line">
            <a:avLst/>
          </a:prstGeom>
          <a:ln w="12700">
            <a:solidFill>
              <a:srgbClr val="D87C43"/>
            </a:solidFill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6718300" y="869721"/>
            <a:ext cx="2425700" cy="5379525"/>
            <a:chOff x="6426200" y="869721"/>
            <a:chExt cx="2717800" cy="5379525"/>
          </a:xfrm>
        </p:grpSpPr>
        <p:sp>
          <p:nvSpPr>
            <p:cNvPr id="31" name="Shape 36"/>
            <p:cNvSpPr/>
            <p:nvPr userDrawn="1"/>
          </p:nvSpPr>
          <p:spPr>
            <a:xfrm flipV="1">
              <a:off x="7213600" y="869721"/>
              <a:ext cx="1930400" cy="2"/>
            </a:xfrm>
            <a:prstGeom prst="line">
              <a:avLst/>
            </a:prstGeom>
            <a:ln w="381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3" name="Shape 38"/>
            <p:cNvSpPr/>
            <p:nvPr/>
          </p:nvSpPr>
          <p:spPr>
            <a:xfrm flipV="1">
              <a:off x="6426200" y="6249244"/>
              <a:ext cx="2717800" cy="2"/>
            </a:xfrm>
            <a:prstGeom prst="line">
              <a:avLst/>
            </a:prstGeom>
            <a:ln w="12700">
              <a:solidFill>
                <a:srgbClr val="2D81AF"/>
              </a:solidFill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pic>
        <p:nvPicPr>
          <p:cNvPr id="34" name="pasted-image.pdf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44678" y="6497786"/>
            <a:ext cx="1254670" cy="13191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484880" y="636402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2D81AF"/>
                </a:solidFill>
              </a:defRPr>
            </a:lvl1pPr>
          </a:lstStyle>
          <a:p>
            <a:fld id="{851CCF73-8DE0-4D4A-B3BF-D2A5C73C1DC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9" name="Shape 8"/>
          <p:cNvSpPr/>
          <p:nvPr/>
        </p:nvSpPr>
        <p:spPr>
          <a:xfrm>
            <a:off x="612648" y="6415517"/>
            <a:ext cx="735779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200">
                <a:solidFill>
                  <a:srgbClr val="3F3D4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1000" dirty="0">
                <a:solidFill>
                  <a:srgbClr val="3F3D40"/>
                </a:solidFill>
              </a:rPr>
              <a:t>INTERNAL</a:t>
            </a:r>
            <a:endParaRPr sz="1000" dirty="0">
              <a:solidFill>
                <a:srgbClr val="3F3D40"/>
              </a:solidFill>
            </a:endParaRPr>
          </a:p>
        </p:txBody>
      </p:sp>
      <p:pic>
        <p:nvPicPr>
          <p:cNvPr id="2" name="Picture 1" descr="V2Solutions_Mark_Only_2014_09_16.pn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918" y="287866"/>
            <a:ext cx="413430" cy="4114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22" r:id="rId2"/>
    <p:sldLayoutId id="2147483727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29" r:id="rId9"/>
    <p:sldLayoutId id="2147483717" r:id="rId10"/>
    <p:sldLayoutId id="2147483719" r:id="rId11"/>
    <p:sldLayoutId id="2147483723" r:id="rId12"/>
    <p:sldLayoutId id="2147483720" r:id="rId13"/>
    <p:sldLayoutId id="2147483718" r:id="rId14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rgbClr val="49434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bg2"/>
        </a:buClr>
        <a:buSzPct val="70000"/>
        <a:buFont typeface="Wingdings" charset="2"/>
        <a:buChar char=""/>
        <a:defRPr kumimoji="0" sz="2900" b="0" i="0" kern="1200">
          <a:solidFill>
            <a:schemeClr val="tx1"/>
          </a:solidFill>
          <a:latin typeface="Arial"/>
          <a:ea typeface="+mn-ea"/>
          <a:cs typeface="Arial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60000"/>
        <a:buFont typeface="Wingdings" charset="2"/>
        <a:buChar char=""/>
        <a:defRPr kumimoji="0" sz="2600" b="0" i="0" kern="1200">
          <a:solidFill>
            <a:schemeClr val="tx1"/>
          </a:solidFill>
          <a:latin typeface="Gill Sans Light"/>
          <a:ea typeface="+mn-ea"/>
          <a:cs typeface="Gill Sans Light"/>
        </a:defRPr>
      </a:lvl2pPr>
      <a:lvl3pPr marL="914400" indent="-228600" algn="l" rtl="0" eaLnBrk="1" latinLnBrk="0" hangingPunct="1">
        <a:spcBef>
          <a:spcPts val="500"/>
        </a:spcBef>
        <a:buClr>
          <a:schemeClr val="tx2"/>
        </a:buClr>
        <a:buSzPct val="125000"/>
        <a:buFont typeface="Arial"/>
        <a:buChar char="•"/>
        <a:defRPr kumimoji="0" sz="2300" b="0" i="0" kern="1200">
          <a:solidFill>
            <a:schemeClr val="tx1"/>
          </a:solidFill>
          <a:latin typeface="Gill Sans Light"/>
          <a:ea typeface="+mn-ea"/>
          <a:cs typeface="Gill Sans Light"/>
        </a:defRPr>
      </a:lvl3pPr>
      <a:lvl4pPr marL="1371600" indent="-228600" algn="l" rtl="0" eaLnBrk="1" latinLnBrk="0" hangingPunct="1">
        <a:spcBef>
          <a:spcPts val="400"/>
        </a:spcBef>
        <a:buClr>
          <a:schemeClr val="tx2"/>
        </a:buClr>
        <a:buSzPct val="120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4pPr>
      <a:lvl5pPr marL="1828800" indent="-228600" algn="l" rtl="0" eaLnBrk="1" latinLnBrk="0" hangingPunct="1">
        <a:spcBef>
          <a:spcPts val="400"/>
        </a:spcBef>
        <a:buClr>
          <a:schemeClr val="tx2"/>
        </a:buClr>
        <a:buSzPct val="115000"/>
        <a:buFont typeface="Arial"/>
        <a:buChar char="•"/>
        <a:defRPr kumimoji="0" sz="2000" b="0" i="0" kern="1200">
          <a:solidFill>
            <a:schemeClr val="tx1"/>
          </a:solidFill>
          <a:latin typeface="Gill Sans Light"/>
          <a:ea typeface="+mn-ea"/>
          <a:cs typeface="Gill Sans Light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March Month Report 2026</a:t>
            </a:r>
          </a:p>
        </p:txBody>
      </p:sp>
    </p:spTree>
    <p:extLst>
      <p:ext uri="{BB962C8B-B14F-4D97-AF65-F5344CB8AC3E}">
        <p14:creationId xmlns:p14="http://schemas.microsoft.com/office/powerpoint/2010/main" val="1377582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Review of last month</a:t>
            </a:r>
            <a:endParaRPr lang="en-IN" dirty="0"/>
          </a:p>
          <a:p>
            <a:pPr lvl="1"/>
            <a:r>
              <a:rPr lang="en-US" dirty="0"/>
              <a:t>List of goals achieved in each sprint</a:t>
            </a:r>
            <a:endParaRPr lang="en-IN" dirty="0"/>
          </a:p>
          <a:p>
            <a:pPr lvl="1"/>
            <a:r>
              <a:rPr lang="en-US" dirty="0"/>
              <a:t>Key takeaways other than goals</a:t>
            </a:r>
            <a:endParaRPr lang="en-IN" dirty="0"/>
          </a:p>
          <a:p>
            <a:pPr lvl="0"/>
            <a:r>
              <a:rPr lang="en-US" dirty="0"/>
              <a:t>Current State</a:t>
            </a:r>
            <a:endParaRPr lang="en-IN" dirty="0"/>
          </a:p>
          <a:p>
            <a:pPr lvl="1"/>
            <a:r>
              <a:rPr lang="en-US" dirty="0"/>
              <a:t>Challenges and Mitigation plans </a:t>
            </a:r>
            <a:endParaRPr lang="en-IN" dirty="0"/>
          </a:p>
          <a:p>
            <a:pPr lvl="0"/>
            <a:r>
              <a:rPr lang="en-US" dirty="0"/>
              <a:t>Road Ahead</a:t>
            </a:r>
            <a:endParaRPr lang="en-IN" dirty="0"/>
          </a:p>
          <a:p>
            <a:pPr lvl="1"/>
            <a:r>
              <a:rPr lang="en-US" dirty="0"/>
              <a:t>Product Roadmap (next month, next quarter, long term)</a:t>
            </a:r>
            <a:endParaRPr lang="en-IN" dirty="0"/>
          </a:p>
          <a:p>
            <a:pPr lvl="1"/>
            <a:r>
              <a:rPr lang="en-US" dirty="0"/>
              <a:t>Resource requirements</a:t>
            </a:r>
            <a:endParaRPr lang="en-IN" dirty="0"/>
          </a:p>
          <a:p>
            <a:pPr lvl="1"/>
            <a:r>
              <a:rPr lang="en-US" dirty="0"/>
              <a:t>Skill upgrades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66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IN" sz="2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Goals Achieved in March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24E65-5838-4B62-BE09-67B4659ACCF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2895" y="1241664"/>
            <a:ext cx="7890763" cy="4729477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6">
                    <a:lumMod val="50000"/>
                  </a:schemeClr>
                </a:solidFill>
              </a:rPr>
              <a:t>2026: SC</a:t>
            </a: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600" dirty="0">
              <a:latin typeface="Arial"/>
              <a:cs typeface="Arial"/>
            </a:endParaRPr>
          </a:p>
          <a:p>
            <a:pPr marL="720090" lvl="1" indent="-400050">
              <a:buFont typeface="+mj-lt"/>
              <a:buAutoNum type="romanUcPeriod"/>
            </a:pPr>
            <a:r>
              <a:rPr lang="en-IN" sz="1600" dirty="0">
                <a:latin typeface="Arial"/>
                <a:cs typeface="Arial"/>
              </a:rPr>
              <a:t>Created new table to allow custom components render in columns</a:t>
            </a:r>
          </a:p>
          <a:p>
            <a:pPr marL="720090" lvl="1" indent="-400050">
              <a:buFont typeface="+mj-lt"/>
              <a:buAutoNum type="romanUcPeriod"/>
            </a:pPr>
            <a:r>
              <a:rPr lang="en-IN" sz="1600" dirty="0">
                <a:latin typeface="Arial"/>
                <a:cs typeface="Arial"/>
              </a:rPr>
              <a:t>Created new contact tab and implemented adding new contacts and showing contacts in grid</a:t>
            </a: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720090" lvl="1" indent="-400050">
              <a:buFont typeface="+mj-lt"/>
              <a:buAutoNum type="romanUcPeriod"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  <a:p>
            <a:pPr marL="320040" lvl="1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41433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7C55-8294-6A2F-8C0D-E7B08E746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Completed Epic 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5B9D3-E91C-7C36-C9BF-3C3F2DDD94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21F46-87F9-FFE5-055B-AD046CAF4A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sz="2000" dirty="0"/>
              <a:t>Epic :</a:t>
            </a:r>
            <a:br>
              <a:rPr lang="en-US" sz="2000" dirty="0"/>
            </a:br>
            <a:r>
              <a:rPr lang="en-US" sz="1600" dirty="0"/>
              <a:t>SLE-4 : Contact &amp; User redesign </a:t>
            </a:r>
            <a:br>
              <a:rPr lang="en-US" sz="1600" dirty="0"/>
            </a:br>
            <a:r>
              <a:rPr lang="en-US" sz="1600" dirty="0"/>
              <a:t>Done : 64%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3476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E2B1A6-7590-2B50-37DE-A8E8EAD705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927A0-5A94-6087-5346-5C284B699CA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Reopened Tickets :</a:t>
            </a:r>
          </a:p>
          <a:p>
            <a:r>
              <a:rPr lang="en-IN" sz="1200" b="1" dirty="0"/>
              <a:t>No reopen tickets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 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200" b="1" dirty="0">
              <a:solidFill>
                <a:srgbClr val="292A2E"/>
              </a:solidFill>
              <a:effectLst/>
              <a:latin typeface="Atlassian Sans"/>
            </a:endParaRPr>
          </a:p>
          <a:p>
            <a:endParaRPr lang="en-US" sz="1600" dirty="0"/>
          </a:p>
          <a:p>
            <a:endParaRPr lang="en-IN" sz="16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9E19A63-5630-5230-695E-A2B3F80D18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32632"/>
            <a:ext cx="44646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Metrics &amp; Project Insights</a:t>
            </a:r>
          </a:p>
        </p:txBody>
      </p:sp>
    </p:spTree>
    <p:extLst>
      <p:ext uri="{BB962C8B-B14F-4D97-AF65-F5344CB8AC3E}">
        <p14:creationId xmlns:p14="http://schemas.microsoft.com/office/powerpoint/2010/main" val="3935210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1653-D352-7F63-9DED-E9D567DE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Metrics &amp; Project Insights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E3068B-40EC-0909-7928-503D7FDFBE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06C79-BE63-2304-D7BC-CAC9AD9176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Carryover Tickets </a:t>
            </a:r>
          </a:p>
          <a:p>
            <a:r>
              <a:rPr lang="en-US" sz="1200" b="1" dirty="0"/>
              <a:t>SLE Sprint 3</a:t>
            </a:r>
          </a:p>
          <a:p>
            <a:r>
              <a:rPr lang="en-IN" sz="1200" dirty="0"/>
              <a:t>SLE-59: Create New Contact (Story Point 5)</a:t>
            </a:r>
          </a:p>
          <a:p>
            <a:r>
              <a:rPr lang="en-US" sz="1200" dirty="0"/>
              <a:t>Waiting for UAT</a:t>
            </a:r>
          </a:p>
          <a:p>
            <a:r>
              <a:rPr lang="en-US" sz="1200" dirty="0"/>
              <a:t>SLE-66 : Edit Contact (Story Point 2)</a:t>
            </a:r>
          </a:p>
          <a:p>
            <a:r>
              <a:rPr lang="en-US" sz="1200" dirty="0"/>
              <a:t>Blocked due to API changes </a:t>
            </a:r>
          </a:p>
          <a:p>
            <a:r>
              <a:rPr lang="en-IN" sz="1200" b="1" dirty="0"/>
              <a:t>SLE Sprint 4</a:t>
            </a:r>
          </a:p>
          <a:p>
            <a:r>
              <a:rPr lang="en-IN" sz="1200" dirty="0"/>
              <a:t> </a:t>
            </a:r>
            <a:r>
              <a:rPr lang="en-US" sz="1200" dirty="0"/>
              <a:t>SLE-66 : Edit Contact (Story Point 2)</a:t>
            </a:r>
          </a:p>
          <a:p>
            <a:r>
              <a:rPr lang="en-US" sz="1200" dirty="0"/>
              <a:t>Blocked due to API changes </a:t>
            </a:r>
          </a:p>
          <a:p>
            <a:r>
              <a:rPr lang="en-US" sz="1200" dirty="0"/>
              <a:t>SLE-7 : Add Billing Address to Billing Tab ( Story Point 2)</a:t>
            </a:r>
          </a:p>
          <a:p>
            <a:r>
              <a:rPr lang="en-US" sz="1200" dirty="0"/>
              <a:t>Waiting for UAT</a:t>
            </a:r>
          </a:p>
          <a:p>
            <a:r>
              <a:rPr lang="en-US" sz="1200" dirty="0"/>
              <a:t>SLE-55 : Update Billing Tab</a:t>
            </a:r>
          </a:p>
          <a:p>
            <a:r>
              <a:rPr lang="en-US" sz="1200" dirty="0"/>
              <a:t>Blocked due to API changes (Story Point 2)</a:t>
            </a:r>
          </a:p>
          <a:p>
            <a:r>
              <a:rPr lang="en-IN" sz="1200" dirty="0"/>
              <a:t>SLE-54</a:t>
            </a:r>
          </a:p>
          <a:p>
            <a:r>
              <a:rPr lang="en-IN" sz="1200" dirty="0"/>
              <a:t>(Story Point 3) – In Progress</a:t>
            </a:r>
          </a:p>
          <a:p>
            <a:r>
              <a:rPr lang="en-IN" sz="1200" dirty="0"/>
              <a:t>- </a:t>
            </a:r>
            <a:r>
              <a:rPr lang="en-US" sz="1200" dirty="0"/>
              <a:t>Just picked 1 day before sprint</a:t>
            </a:r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73918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RoadMap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pPr fontAlgn="ctr"/>
            <a:r>
              <a:rPr lang="en-US" sz="1600" dirty="0"/>
              <a:t>Will move to New Team SLE ( Small Lender Enablement)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9001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D1A3-2468-F3F7-E693-30AED34AF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Contributions Beyond Ticket Goals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FFE3FA-3DB5-3DB1-4872-B6B2F613D9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663FD-8B75-F41D-356B-7557BDA3A0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ctr"/>
            <a:r>
              <a:rPr lang="en-US" sz="1600" dirty="0"/>
              <a:t>Doing dev review for other UI tickets </a:t>
            </a:r>
          </a:p>
          <a:p>
            <a:pPr fontAlgn="ctr"/>
            <a:r>
              <a:rPr lang="en-US" sz="1600" dirty="0"/>
              <a:t>Helping team members whenever needed in slack to identify any issues in Canopy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8396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Faced and Mitigation plan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r>
              <a:rPr lang="en-US" sz="1600" dirty="0"/>
              <a:t>User contact redesign has lot of questions and implementation changes midway due to API or </a:t>
            </a:r>
            <a:r>
              <a:rPr lang="en-US" sz="1600"/>
              <a:t>design change</a:t>
            </a:r>
            <a:endParaRPr lang="en-US" sz="1600" dirty="0"/>
          </a:p>
          <a:p>
            <a:endParaRPr lang="en-US" sz="1600" dirty="0"/>
          </a:p>
          <a:p>
            <a:endParaRPr lang="en-US" sz="2200" dirty="0">
              <a:latin typeface="Gill Sans Light"/>
              <a:sym typeface="Wingdings" panose="05000000000000000000" pitchFamily="2" charset="2"/>
            </a:endParaRPr>
          </a:p>
          <a:p>
            <a:pPr marL="0" indent="0" font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66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and Skills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1CCF73-8DE0-4D4A-B3BF-D2A5C73C1DC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30AFF47-78AC-45C0-A1AA-2DAA028D414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25349" y="1206502"/>
            <a:ext cx="7890763" cy="4688271"/>
          </a:xfrm>
        </p:spPr>
        <p:txBody>
          <a:bodyPr>
            <a:normAutofit/>
          </a:bodyPr>
          <a:lstStyle/>
          <a:p>
            <a:pPr fontAlgn="ctr"/>
            <a:r>
              <a:rPr lang="en-IN" sz="2200" dirty="0">
                <a:latin typeface="Gill Sans Light"/>
              </a:rPr>
              <a:t>Resources Requirement – No</a:t>
            </a:r>
            <a:endParaRPr lang="en-IN" sz="2200" b="1" dirty="0">
              <a:latin typeface="Gill Sans Light"/>
            </a:endParaRPr>
          </a:p>
          <a:p>
            <a:pPr fontAlgn="ctr"/>
            <a:r>
              <a:rPr lang="en-IN" sz="2200" dirty="0">
                <a:latin typeface="Gill Sans Light"/>
              </a:rPr>
              <a:t>Vue 2 and Vue 3 </a:t>
            </a:r>
          </a:p>
          <a:p>
            <a:pPr fontAlgn="ctr"/>
            <a:endParaRPr lang="en-IN" sz="2200" b="1" dirty="0">
              <a:latin typeface="Gill Sans Light"/>
            </a:endParaRPr>
          </a:p>
          <a:p>
            <a:pPr fontAlgn="ctr"/>
            <a:endParaRPr lang="en-IN" sz="2200" b="1" dirty="0">
              <a:latin typeface="Gill Sans Light"/>
            </a:endParaRPr>
          </a:p>
          <a:p>
            <a:pPr fontAlgn="ctr"/>
            <a:endParaRPr lang="en-IN" b="1" dirty="0"/>
          </a:p>
          <a:p>
            <a:pPr marL="0" indent="0" font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540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4495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2 2014">
  <a:themeElements>
    <a:clrScheme name="V2 Theme">
      <a:dk1>
        <a:srgbClr val="494342"/>
      </a:dk1>
      <a:lt1>
        <a:sysClr val="window" lastClr="FFFFFF"/>
      </a:lt1>
      <a:dk2>
        <a:srgbClr val="2D81AF"/>
      </a:dk2>
      <a:lt2>
        <a:srgbClr val="F15A24"/>
      </a:lt2>
      <a:accent1>
        <a:srgbClr val="76B1CD"/>
      </a:accent1>
      <a:accent2>
        <a:srgbClr val="D87C43"/>
      </a:accent2>
      <a:accent3>
        <a:srgbClr val="8DA408"/>
      </a:accent3>
      <a:accent4>
        <a:srgbClr val="FBB03B"/>
      </a:accent4>
      <a:accent5>
        <a:srgbClr val="A952A5"/>
      </a:accent5>
      <a:accent6>
        <a:srgbClr val="9D9EA2"/>
      </a:accent6>
      <a:hlink>
        <a:srgbClr val="76B1CD"/>
      </a:hlink>
      <a:folHlink>
        <a:srgbClr val="F15A24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V2 Theme">
    <a:dk1>
      <a:srgbClr val="494342"/>
    </a:dk1>
    <a:lt1>
      <a:sysClr val="window" lastClr="FFFFFF"/>
    </a:lt1>
    <a:dk2>
      <a:srgbClr val="2D81AF"/>
    </a:dk2>
    <a:lt2>
      <a:srgbClr val="F15A24"/>
    </a:lt2>
    <a:accent1>
      <a:srgbClr val="76B1CD"/>
    </a:accent1>
    <a:accent2>
      <a:srgbClr val="D87C43"/>
    </a:accent2>
    <a:accent3>
      <a:srgbClr val="8DA408"/>
    </a:accent3>
    <a:accent4>
      <a:srgbClr val="FBB03B"/>
    </a:accent4>
    <a:accent5>
      <a:srgbClr val="A952A5"/>
    </a:accent5>
    <a:accent6>
      <a:srgbClr val="9D9EA2"/>
    </a:accent6>
    <a:hlink>
      <a:srgbClr val="76B1CD"/>
    </a:hlink>
    <a:folHlink>
      <a:srgbClr val="F15A2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046518e7-0f18-407f-b97b-b4d4cfdf164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F51A07410DA4796335AE0E37182C8" ma:contentTypeVersion="12" ma:contentTypeDescription="Create a new document." ma:contentTypeScope="" ma:versionID="64df252ce93a8ed28fb488fc5f7aba86">
  <xsd:schema xmlns:xsd="http://www.w3.org/2001/XMLSchema" xmlns:xs="http://www.w3.org/2001/XMLSchema" xmlns:p="http://schemas.microsoft.com/office/2006/metadata/properties" xmlns:ns2="7dc618e8-2c3f-4647-bc5c-9f4e2915a0a5" xmlns:ns3="046518e7-0f18-407f-b97b-b4d4cfdf164f" targetNamespace="http://schemas.microsoft.com/office/2006/metadata/properties" ma:root="true" ma:fieldsID="020a30f465bdbd22ae8d670313e27faa" ns2:_="" ns3:_="">
    <xsd:import namespace="7dc618e8-2c3f-4647-bc5c-9f4e2915a0a5"/>
    <xsd:import namespace="046518e7-0f18-407f-b97b-b4d4cfdf164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618e8-2c3f-4647-bc5c-9f4e2915a0a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6518e7-0f18-407f-b97b-b4d4cfdf16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8BF2C1-E786-4160-A75F-26F487C9931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5BFA2F-D574-42CC-996A-2038CEC6CAE3}">
  <ds:schemaRefs>
    <ds:schemaRef ds:uri="http://www.w3.org/XML/1998/namespace"/>
    <ds:schemaRef ds:uri="4a4c05dd-df60-40a2-8484-219aa1d78252"/>
    <ds:schemaRef ds:uri="http://purl.org/dc/dcmitype/"/>
    <ds:schemaRef ds:uri="http://schemas.microsoft.com/office/2006/metadata/properties"/>
    <ds:schemaRef ds:uri="b1190d85-c0e6-4344-a882-7b3839a01e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046518e7-0f18-407f-b97b-b4d4cfdf164f"/>
  </ds:schemaRefs>
</ds:datastoreItem>
</file>

<file path=customXml/itemProps3.xml><?xml version="1.0" encoding="utf-8"?>
<ds:datastoreItem xmlns:ds="http://schemas.openxmlformats.org/officeDocument/2006/customXml" ds:itemID="{C3D8CCC9-6743-4731-8BFD-1F1CAA310F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c618e8-2c3f-4647-bc5c-9f4e2915a0a5"/>
    <ds:schemaRef ds:uri="046518e7-0f18-407f-b97b-b4d4cfdf16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4026</TotalTime>
  <Words>286</Words>
  <Application>Microsoft Office PowerPoint</Application>
  <PresentationFormat>On-screen Show (4:3)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Atlassian Sans</vt:lpstr>
      <vt:lpstr>Century Gothic</vt:lpstr>
      <vt:lpstr>Courier New</vt:lpstr>
      <vt:lpstr>Gill Sans Light</vt:lpstr>
      <vt:lpstr>Helvetica Neue Light</vt:lpstr>
      <vt:lpstr>Wingdings</vt:lpstr>
      <vt:lpstr>V2 2014</vt:lpstr>
      <vt:lpstr>SLE</vt:lpstr>
      <vt:lpstr>Agenda</vt:lpstr>
      <vt:lpstr>Goals Achieved in March</vt:lpstr>
      <vt:lpstr>Completed Epic </vt:lpstr>
      <vt:lpstr>Metrics &amp; Project Insights</vt:lpstr>
      <vt:lpstr>Metrics &amp; Project Insights</vt:lpstr>
      <vt:lpstr>Project RoadMap</vt:lpstr>
      <vt:lpstr>Key Contributions Beyond Ticket Goals</vt:lpstr>
      <vt:lpstr>Challenges Faced and Mitigation plan</vt:lpstr>
      <vt:lpstr>Resources and Skills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Hall</dc:creator>
  <dc:description>Doc. Ref. No.: V2/DOC/COM/012                   Rev. No.: 2                                 W.e.f : 3 Feb 2016</dc:description>
  <cp:lastModifiedBy>Puspendu Bhushan</cp:lastModifiedBy>
  <cp:revision>300</cp:revision>
  <dcterms:created xsi:type="dcterms:W3CDTF">2014-09-05T18:58:01Z</dcterms:created>
  <dcterms:modified xsi:type="dcterms:W3CDTF">2026-04-06T05:09:43Z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0x010100C6BF51A07410DA4796335AE0E37182C8</vt:lpwstr>
  </property>
</Properties>
</file>