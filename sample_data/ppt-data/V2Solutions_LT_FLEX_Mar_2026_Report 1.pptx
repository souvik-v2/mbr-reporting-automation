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4"/>
  </p:sldMasterIdLst>
  <p:sldIdLst>
    <p:sldId id="275" r:id="rId5"/>
    <p:sldId id="259" r:id="rId6"/>
    <p:sldId id="257" r:id="rId7"/>
    <p:sldId id="295" r:id="rId8"/>
    <p:sldId id="291" r:id="rId9"/>
    <p:sldId id="279" r:id="rId10"/>
    <p:sldId id="293" r:id="rId11"/>
    <p:sldId id="294" r:id="rId12"/>
    <p:sldId id="27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C114C1-F221-4E89-8EB1-B0F91C29C147}" v="11" dt="2026-04-02T07:57:55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130" autoAdjust="0"/>
  </p:normalViewPr>
  <p:slideViewPr>
    <p:cSldViewPr snapToGrid="0" snapToObjects="1">
      <p:cViewPr varScale="1">
        <p:scale>
          <a:sx n="74" d="100"/>
          <a:sy n="74" d="100"/>
        </p:scale>
        <p:origin x="10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bh Chowdhury" userId="2aba2b83-d75f-4601-835a-a157beb4ffa8" providerId="ADAL" clId="{0733DD7A-2910-46FD-8E68-048988DB0145}"/>
    <pc:docChg chg="undo redo custSel modSld">
      <pc:chgData name="Saurabh Chowdhury" userId="2aba2b83-d75f-4601-835a-a157beb4ffa8" providerId="ADAL" clId="{0733DD7A-2910-46FD-8E68-048988DB0145}" dt="2026-04-02T07:58:28.820" v="1111" actId="113"/>
      <pc:docMkLst>
        <pc:docMk/>
      </pc:docMkLst>
      <pc:sldChg chg="modSp mod">
        <pc:chgData name="Saurabh Chowdhury" userId="2aba2b83-d75f-4601-835a-a157beb4ffa8" providerId="ADAL" clId="{0733DD7A-2910-46FD-8E68-048988DB0145}" dt="2026-04-02T07:38:27.737" v="676" actId="20577"/>
        <pc:sldMkLst>
          <pc:docMk/>
          <pc:sldMk cId="4041433737" sldId="257"/>
        </pc:sldMkLst>
        <pc:spChg chg="mod">
          <ac:chgData name="Saurabh Chowdhury" userId="2aba2b83-d75f-4601-835a-a157beb4ffa8" providerId="ADAL" clId="{0733DD7A-2910-46FD-8E68-048988DB0145}" dt="2026-04-02T07:27:17.206" v="563" actId="20577"/>
          <ac:spMkLst>
            <pc:docMk/>
            <pc:sldMk cId="4041433737" sldId="257"/>
            <ac:spMk id="2" creationId="{00000000-0000-0000-0000-000000000000}"/>
          </ac:spMkLst>
        </pc:spChg>
        <pc:spChg chg="mod">
          <ac:chgData name="Saurabh Chowdhury" userId="2aba2b83-d75f-4601-835a-a157beb4ffa8" providerId="ADAL" clId="{0733DD7A-2910-46FD-8E68-048988DB0145}" dt="2026-04-02T07:38:27.737" v="676" actId="20577"/>
          <ac:spMkLst>
            <pc:docMk/>
            <pc:sldMk cId="4041433737" sldId="257"/>
            <ac:spMk id="6" creationId="{EF224E65-5838-4B62-BE09-67B4659ACCF3}"/>
          </ac:spMkLst>
        </pc:spChg>
      </pc:sldChg>
      <pc:sldChg chg="modSp mod">
        <pc:chgData name="Saurabh Chowdhury" userId="2aba2b83-d75f-4601-835a-a157beb4ffa8" providerId="ADAL" clId="{0733DD7A-2910-46FD-8E68-048988DB0145}" dt="2026-04-02T07:27:08.971" v="558" actId="20577"/>
        <pc:sldMkLst>
          <pc:docMk/>
          <pc:sldMk cId="1377582310" sldId="275"/>
        </pc:sldMkLst>
        <pc:spChg chg="mod">
          <ac:chgData name="Saurabh Chowdhury" userId="2aba2b83-d75f-4601-835a-a157beb4ffa8" providerId="ADAL" clId="{0733DD7A-2910-46FD-8E68-048988DB0145}" dt="2026-04-02T07:27:08.971" v="558" actId="20577"/>
          <ac:spMkLst>
            <pc:docMk/>
            <pc:sldMk cId="1377582310" sldId="275"/>
            <ac:spMk id="3" creationId="{00000000-0000-0000-0000-000000000000}"/>
          </ac:spMkLst>
        </pc:spChg>
      </pc:sldChg>
      <pc:sldChg chg="modSp mod">
        <pc:chgData name="Saurabh Chowdhury" userId="2aba2b83-d75f-4601-835a-a157beb4ffa8" providerId="ADAL" clId="{0733DD7A-2910-46FD-8E68-048988DB0145}" dt="2026-03-05T06:43:07.554" v="495" actId="20577"/>
        <pc:sldMkLst>
          <pc:docMk/>
          <pc:sldMk cId="1264668197" sldId="279"/>
        </pc:sldMkLst>
        <pc:spChg chg="mod">
          <ac:chgData name="Saurabh Chowdhury" userId="2aba2b83-d75f-4601-835a-a157beb4ffa8" providerId="ADAL" clId="{0733DD7A-2910-46FD-8E68-048988DB0145}" dt="2026-03-05T06:43:07.554" v="495" actId="20577"/>
          <ac:spMkLst>
            <pc:docMk/>
            <pc:sldMk cId="1264668197" sldId="279"/>
            <ac:spMk id="5" creationId="{D30AFF47-78AC-45C0-A1AA-2DAA028D4141}"/>
          </ac:spMkLst>
        </pc:spChg>
      </pc:sldChg>
      <pc:sldChg chg="modSp mod">
        <pc:chgData name="Saurabh Chowdhury" userId="2aba2b83-d75f-4601-835a-a157beb4ffa8" providerId="ADAL" clId="{0733DD7A-2910-46FD-8E68-048988DB0145}" dt="2026-04-02T07:58:28.820" v="1111" actId="113"/>
        <pc:sldMkLst>
          <pc:docMk/>
          <pc:sldMk cId="3434579573" sldId="291"/>
        </pc:sldMkLst>
        <pc:spChg chg="mod">
          <ac:chgData name="Saurabh Chowdhury" userId="2aba2b83-d75f-4601-835a-a157beb4ffa8" providerId="ADAL" clId="{0733DD7A-2910-46FD-8E68-048988DB0145}" dt="2026-04-02T07:58:28.820" v="1111" actId="113"/>
          <ac:spMkLst>
            <pc:docMk/>
            <pc:sldMk cId="3434579573" sldId="291"/>
            <ac:spMk id="6" creationId="{EF224E65-5838-4B62-BE09-67B4659ACCF3}"/>
          </ac:spMkLst>
        </pc:spChg>
      </pc:sldChg>
      <pc:sldChg chg="modSp mod">
        <pc:chgData name="Saurabh Chowdhury" userId="2aba2b83-d75f-4601-835a-a157beb4ffa8" providerId="ADAL" clId="{0733DD7A-2910-46FD-8E68-048988DB0145}" dt="2026-04-02T07:57:55.772" v="1110"/>
        <pc:sldMkLst>
          <pc:docMk/>
          <pc:sldMk cId="3090012076" sldId="293"/>
        </pc:sldMkLst>
        <pc:spChg chg="mod">
          <ac:chgData name="Saurabh Chowdhury" userId="2aba2b83-d75f-4601-835a-a157beb4ffa8" providerId="ADAL" clId="{0733DD7A-2910-46FD-8E68-048988DB0145}" dt="2026-04-02T07:57:55.772" v="1110"/>
          <ac:spMkLst>
            <pc:docMk/>
            <pc:sldMk cId="3090012076" sldId="293"/>
            <ac:spMk id="5" creationId="{D30AFF47-78AC-45C0-A1AA-2DAA028D4141}"/>
          </ac:spMkLst>
        </pc:spChg>
      </pc:sldChg>
      <pc:sldChg chg="modSp mod">
        <pc:chgData name="Saurabh Chowdhury" userId="2aba2b83-d75f-4601-835a-a157beb4ffa8" providerId="ADAL" clId="{0733DD7A-2910-46FD-8E68-048988DB0145}" dt="2026-04-02T07:49:45.988" v="1034" actId="20577"/>
        <pc:sldMkLst>
          <pc:docMk/>
          <pc:sldMk cId="3672145332" sldId="295"/>
        </pc:sldMkLst>
        <pc:spChg chg="mod">
          <ac:chgData name="Saurabh Chowdhury" userId="2aba2b83-d75f-4601-835a-a157beb4ffa8" providerId="ADAL" clId="{0733DD7A-2910-46FD-8E68-048988DB0145}" dt="2026-04-02T07:49:45.988" v="1034" actId="20577"/>
          <ac:spMkLst>
            <pc:docMk/>
            <pc:sldMk cId="3672145332" sldId="295"/>
            <ac:spMk id="4" creationId="{E8441C40-A530-6B17-4681-B39A69653B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21"/>
          <p:cNvSpPr>
            <a:spLocks noGrp="1"/>
          </p:cNvSpPr>
          <p:nvPr>
            <p:ph type="title"/>
          </p:nvPr>
        </p:nvSpPr>
        <p:spPr>
          <a:xfrm>
            <a:off x="1357098" y="3505200"/>
            <a:ext cx="6438901" cy="762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000">
                <a:latin typeface="Arial"/>
                <a:cs typeface="Arial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022" y="4185903"/>
            <a:ext cx="3664330" cy="52038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pic>
        <p:nvPicPr>
          <p:cNvPr id="3" name="Picture 2" descr="V2Solutions_Logo_Stacked_2014_09_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675" y="1230790"/>
            <a:ext cx="3653677" cy="22740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81322" y="4881036"/>
            <a:ext cx="3657568" cy="72912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2781322" y="6258560"/>
            <a:ext cx="3657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94342"/>
                </a:solidFill>
              </a:rPr>
              <a:t>2340</a:t>
            </a:r>
            <a:r>
              <a:rPr lang="en-US" sz="1000" baseline="0" dirty="0">
                <a:solidFill>
                  <a:srgbClr val="494342"/>
                </a:solidFill>
              </a:rPr>
              <a:t> D. Walsh Ave, Santa Clara, CA. 95051 </a:t>
            </a:r>
            <a:endParaRPr lang="en-US" sz="1000" dirty="0">
              <a:solidFill>
                <a:srgbClr val="49434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 typeface="Arial"/>
              <a:buNone/>
              <a:defRPr sz="2400"/>
            </a:lvl1pPr>
            <a:lvl2pPr marL="365760" indent="0">
              <a:buSzPct val="60000"/>
              <a:buFont typeface="Arial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Arial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Arial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9571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no Bol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70000"/>
              <a:buFont typeface="Wingdings" charset="2"/>
              <a:buNone/>
              <a:defRPr sz="2200" b="0" i="0">
                <a:latin typeface="Gill Sans Light"/>
                <a:cs typeface="Gill Sans Light"/>
              </a:defRPr>
            </a:lvl1pPr>
            <a:lvl2pPr marL="365760" indent="0">
              <a:buSzPct val="60000"/>
              <a:buFont typeface="Wingdings" charset="2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Courier New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Courier New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1785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4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382220" y="2006663"/>
            <a:ext cx="1136984" cy="1136985"/>
            <a:chOff x="1687021" y="2717864"/>
            <a:chExt cx="981540" cy="981541"/>
          </a:xfrm>
        </p:grpSpPr>
        <p:sp>
          <p:nvSpPr>
            <p:cNvPr id="15" name="Shape 95"/>
            <p:cNvSpPr/>
            <p:nvPr userDrawn="1"/>
          </p:nvSpPr>
          <p:spPr>
            <a:xfrm>
              <a:off x="1687021" y="2717864"/>
              <a:ext cx="981540" cy="9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grpSp>
          <p:nvGrpSpPr>
            <p:cNvPr id="16" name="Group 101"/>
            <p:cNvGrpSpPr>
              <a:grpSpLocks noChangeAspect="1"/>
            </p:cNvGrpSpPr>
            <p:nvPr userDrawn="1"/>
          </p:nvGrpSpPr>
          <p:grpSpPr>
            <a:xfrm>
              <a:off x="1728067" y="2758909"/>
              <a:ext cx="899447" cy="899448"/>
              <a:chOff x="0" y="0"/>
              <a:chExt cx="1280160" cy="1280160"/>
            </a:xfrm>
          </p:grpSpPr>
          <p:sp>
            <p:nvSpPr>
              <p:cNvPr id="17" name="Shape 96"/>
              <p:cNvSpPr/>
              <p:nvPr/>
            </p:nvSpPr>
            <p:spPr>
              <a:xfrm rot="16200000">
                <a:off x="-1" y="0"/>
                <a:ext cx="1280162" cy="1280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6B1C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8" name="Group 100"/>
              <p:cNvGrpSpPr/>
              <p:nvPr/>
            </p:nvGrpSpPr>
            <p:grpSpPr>
              <a:xfrm>
                <a:off x="464661" y="363060"/>
                <a:ext cx="350838" cy="583344"/>
                <a:chOff x="0" y="0"/>
                <a:chExt cx="350837" cy="583342"/>
              </a:xfrm>
            </p:grpSpPr>
            <p:sp>
              <p:nvSpPr>
                <p:cNvPr id="19" name="Shape 97"/>
                <p:cNvSpPr/>
                <p:nvPr/>
              </p:nvSpPr>
              <p:spPr>
                <a:xfrm>
                  <a:off x="-1" y="-1"/>
                  <a:ext cx="350839" cy="5833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414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0" name="Shape 98"/>
                <p:cNvSpPr/>
                <p:nvPr/>
              </p:nvSpPr>
              <p:spPr>
                <a:xfrm>
                  <a:off x="59795" y="44957"/>
                  <a:ext cx="243057" cy="5237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426" y="0"/>
                      </a:moveTo>
                      <a:lnTo>
                        <a:pt x="0" y="0"/>
                      </a:lnTo>
                      <a:lnTo>
                        <a:pt x="0" y="18544"/>
                      </a:lnTo>
                      <a:lnTo>
                        <a:pt x="21600" y="21600"/>
                      </a:lnTo>
                      <a:lnTo>
                        <a:pt x="21426" y="0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1" name="Shape 99"/>
                <p:cNvSpPr/>
                <p:nvPr/>
              </p:nvSpPr>
              <p:spPr>
                <a:xfrm>
                  <a:off x="95442" y="249214"/>
                  <a:ext cx="30481" cy="304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</p:grp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se Study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7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524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1"/>
          </p:nvPr>
        </p:nvSpPr>
        <p:spPr>
          <a:xfrm>
            <a:off x="467918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4412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219200"/>
            <a:ext cx="1600200" cy="4736592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2438400" y="1206502"/>
            <a:ext cx="6077712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641600"/>
            <a:ext cx="9144000" cy="153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Thank</a:t>
            </a:r>
            <a:r>
              <a:rPr lang="en-US" sz="2800" baseline="0" dirty="0"/>
              <a:t> You</a:t>
            </a:r>
            <a:endParaRPr lang="en-US" sz="2800" dirty="0"/>
          </a:p>
        </p:txBody>
      </p:sp>
      <p:pic>
        <p:nvPicPr>
          <p:cNvPr id="2" name="Picture 1" descr="V2Solutions_Logo_Stacked_No_Tag_2014_09_1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90" y="584200"/>
            <a:ext cx="33063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 vert="vert"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607646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193800"/>
            <a:ext cx="7886700" cy="47371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30" name="Shape 34"/>
          <p:cNvSpPr/>
          <p:nvPr/>
        </p:nvSpPr>
        <p:spPr>
          <a:xfrm>
            <a:off x="-1424" y="869723"/>
            <a:ext cx="7218670" cy="1"/>
          </a:xfrm>
          <a:prstGeom prst="line">
            <a:avLst/>
          </a:prstGeom>
          <a:ln w="381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</p:txBody>
      </p:sp>
      <p:sp>
        <p:nvSpPr>
          <p:cNvPr id="32" name="Shape 37"/>
          <p:cNvSpPr/>
          <p:nvPr/>
        </p:nvSpPr>
        <p:spPr>
          <a:xfrm>
            <a:off x="-17827" y="6249246"/>
            <a:ext cx="6543135" cy="1"/>
          </a:xfrm>
          <a:prstGeom prst="line">
            <a:avLst/>
          </a:prstGeom>
          <a:ln w="127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6718300" y="869721"/>
            <a:ext cx="2425700" cy="5379525"/>
            <a:chOff x="6426200" y="869721"/>
            <a:chExt cx="2717800" cy="5379525"/>
          </a:xfrm>
        </p:grpSpPr>
        <p:sp>
          <p:nvSpPr>
            <p:cNvPr id="31" name="Shape 36"/>
            <p:cNvSpPr/>
            <p:nvPr userDrawn="1"/>
          </p:nvSpPr>
          <p:spPr>
            <a:xfrm flipV="1">
              <a:off x="7213600" y="869721"/>
              <a:ext cx="1930400" cy="2"/>
            </a:xfrm>
            <a:prstGeom prst="line">
              <a:avLst/>
            </a:prstGeom>
            <a:ln w="381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3" name="Shape 38"/>
            <p:cNvSpPr/>
            <p:nvPr/>
          </p:nvSpPr>
          <p:spPr>
            <a:xfrm flipV="1">
              <a:off x="6426200" y="6249244"/>
              <a:ext cx="2717800" cy="2"/>
            </a:xfrm>
            <a:prstGeom prst="line">
              <a:avLst/>
            </a:prstGeom>
            <a:ln w="127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pic>
        <p:nvPicPr>
          <p:cNvPr id="34" name="pasted-image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44678" y="6497786"/>
            <a:ext cx="1254670" cy="13191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484880" y="63640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2D81AF"/>
                </a:solidFill>
              </a:defRPr>
            </a:lvl1pPr>
          </a:lstStyle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Shape 8"/>
          <p:cNvSpPr/>
          <p:nvPr/>
        </p:nvSpPr>
        <p:spPr>
          <a:xfrm>
            <a:off x="612648" y="6415517"/>
            <a:ext cx="735779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>
                <a:solidFill>
                  <a:srgbClr val="3F3D4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3F3D40"/>
                </a:solidFill>
              </a:rPr>
              <a:t>INTERNAL</a:t>
            </a:r>
            <a:endParaRPr sz="1000" dirty="0">
              <a:solidFill>
                <a:srgbClr val="3F3D40"/>
              </a:solidFill>
            </a:endParaRPr>
          </a:p>
        </p:txBody>
      </p:sp>
      <p:pic>
        <p:nvPicPr>
          <p:cNvPr id="2" name="Picture 1" descr="V2Solutions_Mark_Only_2014_09_16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918" y="287866"/>
            <a:ext cx="413430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22" r:id="rId2"/>
    <p:sldLayoutId id="2147483727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9" r:id="rId9"/>
    <p:sldLayoutId id="2147483717" r:id="rId10"/>
    <p:sldLayoutId id="2147483719" r:id="rId11"/>
    <p:sldLayoutId id="2147483723" r:id="rId12"/>
    <p:sldLayoutId id="2147483720" r:id="rId13"/>
    <p:sldLayoutId id="2147483718" r:id="rId1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rgbClr val="49434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bg2"/>
        </a:buClr>
        <a:buSzPct val="70000"/>
        <a:buFont typeface="Wingdings" charset="2"/>
        <a:buChar char=""/>
        <a:defRPr kumimoji="0" sz="2900" b="0" i="0" kern="1200">
          <a:solidFill>
            <a:schemeClr val="tx1"/>
          </a:solidFill>
          <a:latin typeface="Arial"/>
          <a:ea typeface="+mn-ea"/>
          <a:cs typeface="Arial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60000"/>
        <a:buFont typeface="Wingdings" charset="2"/>
        <a:buChar char=""/>
        <a:defRPr kumimoji="0" sz="26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914400" indent="-228600" algn="l" rtl="0" eaLnBrk="1" latinLnBrk="0" hangingPunct="1">
        <a:spcBef>
          <a:spcPts val="500"/>
        </a:spcBef>
        <a:buClr>
          <a:schemeClr val="tx2"/>
        </a:buClr>
        <a:buSzPct val="125000"/>
        <a:buFont typeface="Arial"/>
        <a:buChar char="•"/>
        <a:defRPr kumimoji="0" sz="23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371600" indent="-228600" algn="l" rtl="0" eaLnBrk="1" latinLnBrk="0" hangingPunct="1">
        <a:spcBef>
          <a:spcPts val="400"/>
        </a:spcBef>
        <a:buClr>
          <a:schemeClr val="tx2"/>
        </a:buClr>
        <a:buSzPct val="120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1828800" indent="-228600" algn="l" rtl="0" eaLnBrk="1" latinLnBrk="0" hangingPunct="1">
        <a:spcBef>
          <a:spcPts val="400"/>
        </a:spcBef>
        <a:buClr>
          <a:schemeClr val="tx2"/>
        </a:buClr>
        <a:buSzPct val="115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March Report</a:t>
            </a:r>
          </a:p>
        </p:txBody>
      </p:sp>
    </p:spTree>
    <p:extLst>
      <p:ext uri="{BB962C8B-B14F-4D97-AF65-F5344CB8AC3E}">
        <p14:creationId xmlns:p14="http://schemas.microsoft.com/office/powerpoint/2010/main" val="137758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Review of last month</a:t>
            </a:r>
            <a:endParaRPr lang="en-IN" dirty="0"/>
          </a:p>
          <a:p>
            <a:pPr lvl="1"/>
            <a:r>
              <a:rPr lang="en-US" dirty="0"/>
              <a:t>List of goals achieved in each sprint</a:t>
            </a:r>
            <a:endParaRPr lang="en-IN" dirty="0"/>
          </a:p>
          <a:p>
            <a:pPr lvl="1"/>
            <a:r>
              <a:rPr lang="en-US" dirty="0"/>
              <a:t>Key takeaways other than goals</a:t>
            </a:r>
            <a:endParaRPr lang="en-IN" dirty="0"/>
          </a:p>
          <a:p>
            <a:pPr lvl="0"/>
            <a:r>
              <a:rPr lang="en-US" dirty="0"/>
              <a:t>Current State</a:t>
            </a:r>
            <a:endParaRPr lang="en-IN" dirty="0"/>
          </a:p>
          <a:p>
            <a:pPr lvl="1"/>
            <a:r>
              <a:rPr lang="en-US" dirty="0"/>
              <a:t>Challenges and Mitigation plans </a:t>
            </a:r>
            <a:endParaRPr lang="en-IN" dirty="0"/>
          </a:p>
          <a:p>
            <a:pPr lvl="0"/>
            <a:r>
              <a:rPr lang="en-US" dirty="0"/>
              <a:t>Road Ahead</a:t>
            </a:r>
            <a:endParaRPr lang="en-IN" dirty="0"/>
          </a:p>
          <a:p>
            <a:pPr lvl="1"/>
            <a:r>
              <a:rPr lang="en-US" dirty="0"/>
              <a:t>Product Roadmap (next month, next quarter, long term)</a:t>
            </a:r>
            <a:endParaRPr lang="en-IN" dirty="0"/>
          </a:p>
          <a:p>
            <a:pPr lvl="1"/>
            <a:r>
              <a:rPr lang="en-US" dirty="0"/>
              <a:t>Resource requirements</a:t>
            </a:r>
            <a:endParaRPr lang="en-IN" dirty="0"/>
          </a:p>
          <a:p>
            <a:pPr lvl="1"/>
            <a:r>
              <a:rPr lang="en-US" dirty="0"/>
              <a:t>Skill upgrades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66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Goals Achieved in March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FLEX-792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: Redesign the SMB Offers page to show Real offers, instead of static data.</a:t>
            </a:r>
          </a:p>
          <a:p>
            <a:pPr lvl="2"/>
            <a:r>
              <a:rPr lang="en-US" dirty="0">
                <a:solidFill>
                  <a:srgbClr val="333333"/>
                </a:solidFill>
                <a:latin typeface="-apple-system"/>
              </a:rPr>
              <a:t>Status: Completed</a:t>
            </a:r>
          </a:p>
          <a:p>
            <a:pPr lvl="1"/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Flex-739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: Home Portfolio Leads: Implement Home Portfolio Leads with Offer Rate table.</a:t>
            </a:r>
          </a:p>
          <a:p>
            <a:pPr lvl="2"/>
            <a:r>
              <a:rPr lang="en-US" dirty="0">
                <a:solidFill>
                  <a:srgbClr val="333333"/>
                </a:solidFill>
                <a:latin typeface="-apple-system"/>
              </a:rPr>
              <a:t>Status: In Progress (96%)</a:t>
            </a:r>
          </a:p>
          <a:p>
            <a:pPr lvl="1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Flex-784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: Funnels - Cross Sell Variations </a:t>
            </a:r>
          </a:p>
          <a:p>
            <a:pPr lvl="2"/>
            <a:r>
              <a:rPr lang="en-US" dirty="0">
                <a:solidFill>
                  <a:srgbClr val="333333"/>
                </a:solidFill>
                <a:latin typeface="-apple-system"/>
              </a:rPr>
              <a:t>Status: In Progress (81%)</a:t>
            </a:r>
          </a:p>
          <a:p>
            <a:pPr lvl="1"/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FLEX-584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: Verify User’s Phone number using a Third Party API for BL and HE</a:t>
            </a:r>
          </a:p>
          <a:p>
            <a:pPr lvl="2"/>
            <a:r>
              <a:rPr lang="en-US" dirty="0">
                <a:solidFill>
                  <a:srgbClr val="333333"/>
                </a:solidFill>
                <a:latin typeface="-apple-system"/>
              </a:rPr>
              <a:t>Status: In Progress (94%)</a:t>
            </a:r>
          </a:p>
          <a:p>
            <a:pPr lvl="1"/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FLEX-911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: Remove phone number and email from the PL page</a:t>
            </a:r>
          </a:p>
          <a:p>
            <a:pPr lvl="2"/>
            <a:r>
              <a:rPr lang="en-US" dirty="0">
                <a:solidFill>
                  <a:srgbClr val="333333"/>
                </a:solidFill>
                <a:latin typeface="-apple-system"/>
              </a:rPr>
              <a:t>Status: In Progress (60%)</a:t>
            </a:r>
          </a:p>
          <a:p>
            <a:pPr lvl="1"/>
            <a:endParaRPr lang="en-US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dirty="0">
              <a:solidFill>
                <a:srgbClr val="333333"/>
              </a:solidFill>
              <a:latin typeface="-apple-system"/>
            </a:endParaRPr>
          </a:p>
          <a:p>
            <a:pPr lvl="1"/>
            <a:endParaRPr lang="en-US" dirty="0">
              <a:solidFill>
                <a:srgbClr val="333333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41433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4EF4-DF05-BA36-2A39-D5DBE657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Carryover and Reopen Details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AC871D-A03C-F33E-2D74-8A613C9D69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41C40-A530-6B17-4681-B39A69653B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20040" lvl="2" indent="-320040">
              <a:spcBef>
                <a:spcPts val="700"/>
              </a:spcBef>
              <a:buClr>
                <a:schemeClr val="bg2"/>
              </a:buClr>
              <a:buSzPct val="70000"/>
              <a:buFont typeface="Wingdings" charset="2"/>
              <a:buChar char=""/>
            </a:pPr>
            <a:r>
              <a:rPr lang="nn-NO" sz="2400" dirty="0">
                <a:solidFill>
                  <a:srgbClr val="333333"/>
                </a:solidFill>
                <a:latin typeface="-apple-system"/>
                <a:cs typeface="Arial"/>
              </a:rPr>
              <a:t>Flex '26 Sprint 4: 2/19 - 3/5</a:t>
            </a:r>
          </a:p>
          <a:p>
            <a:pPr marL="777240" lvl="3" indent="-320040">
              <a:spcBef>
                <a:spcPts val="700"/>
              </a:spcBef>
              <a:buClr>
                <a:schemeClr val="bg2"/>
              </a:buClr>
              <a:buSzPct val="70000"/>
              <a:buFont typeface="Wingdings" charset="2"/>
              <a:buChar char=""/>
            </a:pPr>
            <a:r>
              <a:rPr lang="nn-NO" dirty="0">
                <a:solidFill>
                  <a:srgbClr val="333333"/>
                </a:solidFill>
                <a:latin typeface="-apple-system"/>
              </a:rPr>
              <a:t>Flex-838,Flex-839,Flex-840 belonging to Epic FLEX-784 (Funnels Cross sell variation) carried over as there were some design elements in Figma which were initially thought to be not in scope.</a:t>
            </a:r>
          </a:p>
          <a:p>
            <a:pPr marL="320040" lvl="2" indent="-320040">
              <a:spcBef>
                <a:spcPts val="700"/>
              </a:spcBef>
              <a:buClr>
                <a:schemeClr val="bg2"/>
              </a:buClr>
              <a:buSzPct val="70000"/>
              <a:buFont typeface="Wingdings" charset="2"/>
              <a:buChar char=""/>
            </a:pPr>
            <a:r>
              <a:rPr lang="nn-NO" sz="2400" dirty="0">
                <a:solidFill>
                  <a:srgbClr val="333333"/>
                </a:solidFill>
                <a:latin typeface="-apple-system"/>
                <a:cs typeface="Arial"/>
              </a:rPr>
              <a:t>Flex '26 Sprint 5: 3/5 - 3/19</a:t>
            </a:r>
          </a:p>
          <a:p>
            <a:pPr marL="777240" lvl="3" indent="-320040">
              <a:spcBef>
                <a:spcPts val="700"/>
              </a:spcBef>
              <a:buClr>
                <a:schemeClr val="bg2"/>
              </a:buClr>
              <a:buSzPct val="70000"/>
              <a:buFont typeface="Wingdings" charset="2"/>
              <a:buChar char=""/>
            </a:pPr>
            <a:r>
              <a:rPr lang="en-US" dirty="0">
                <a:solidFill>
                  <a:srgbClr val="333333"/>
                </a:solidFill>
                <a:latin typeface="-apple-system"/>
              </a:rPr>
              <a:t>No Carryover</a:t>
            </a:r>
          </a:p>
          <a:p>
            <a:pPr lvl="1"/>
            <a:endParaRPr lang="en-US" dirty="0">
              <a:solidFill>
                <a:srgbClr val="333333"/>
              </a:solidFill>
              <a:latin typeface="-apple-system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14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Key Achievements</a:t>
            </a:r>
            <a:endParaRPr lang="en-IN" sz="2800" b="1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FLEX-784: 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Funnels Cross Sell variations.</a:t>
            </a:r>
          </a:p>
          <a:p>
            <a:pPr lvl="1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Flex-584</a:t>
            </a:r>
            <a:r>
              <a:rPr lang="en-US" b="1" dirty="0">
                <a:solidFill>
                  <a:srgbClr val="333333"/>
                </a:solidFill>
                <a:latin typeface="-apple-system"/>
              </a:rPr>
              <a:t>: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 Identity Verification in BL &amp; HE is very close to completion.</a:t>
            </a:r>
          </a:p>
        </p:txBody>
      </p:sp>
    </p:spTree>
    <p:extLst>
      <p:ext uri="{BB962C8B-B14F-4D97-AF65-F5344CB8AC3E}">
        <p14:creationId xmlns:p14="http://schemas.microsoft.com/office/powerpoint/2010/main" val="3434579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Faced and Mitigation plan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/>
            <a:r>
              <a:rPr lang="en-US" sz="2200" dirty="0">
                <a:latin typeface="Gill Sans Light"/>
                <a:sym typeface="Wingdings" panose="05000000000000000000" pitchFamily="2" charset="2"/>
              </a:rPr>
              <a:t>QA Bandwidth is low as 6 Developers outnumber 2 QA</a:t>
            </a:r>
          </a:p>
        </p:txBody>
      </p:sp>
    </p:spTree>
    <p:extLst>
      <p:ext uri="{BB962C8B-B14F-4D97-AF65-F5344CB8AC3E}">
        <p14:creationId xmlns:p14="http://schemas.microsoft.com/office/powerpoint/2010/main" val="126466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RoadMap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/>
            <a:r>
              <a:rPr lang="en-US" dirty="0">
                <a:latin typeface="Gill Sans Light"/>
              </a:rPr>
              <a:t>Identity Verification in BL &amp; HE</a:t>
            </a:r>
          </a:p>
          <a:p>
            <a:pPr fontAlgn="ctr"/>
            <a:r>
              <a:rPr lang="en-US" dirty="0">
                <a:latin typeface="Gill Sans Light"/>
              </a:rPr>
              <a:t>Ping/Post Marketing Bid API – Phase 1 (Personal Loans)</a:t>
            </a:r>
          </a:p>
          <a:p>
            <a:pPr fontAlgn="ctr"/>
            <a:r>
              <a:rPr lang="en-US" dirty="0">
                <a:latin typeface="Gill Sans Light"/>
              </a:rPr>
              <a:t>Funnels Cross Sell Variations</a:t>
            </a:r>
          </a:p>
          <a:p>
            <a:pPr fontAlgn="ctr"/>
            <a:r>
              <a:rPr lang="fr-FR" dirty="0" err="1">
                <a:latin typeface="Gill Sans Light"/>
              </a:rPr>
              <a:t>Form</a:t>
            </a:r>
            <a:r>
              <a:rPr lang="fr-FR" dirty="0">
                <a:latin typeface="Gill Sans Light"/>
              </a:rPr>
              <a:t> </a:t>
            </a:r>
            <a:r>
              <a:rPr lang="fr-FR" dirty="0" err="1">
                <a:latin typeface="Gill Sans Light"/>
              </a:rPr>
              <a:t>Enrichment</a:t>
            </a:r>
            <a:r>
              <a:rPr lang="fr-FR" dirty="0">
                <a:latin typeface="Gill Sans Light"/>
              </a:rPr>
              <a:t> - </a:t>
            </a:r>
            <a:r>
              <a:rPr lang="fr-FR" dirty="0" err="1">
                <a:latin typeface="Gill Sans Light"/>
              </a:rPr>
              <a:t>Credit</a:t>
            </a:r>
            <a:r>
              <a:rPr lang="fr-FR" dirty="0">
                <a:latin typeface="Gill Sans Light"/>
              </a:rPr>
              <a:t> Bureau File - LTIS-557</a:t>
            </a:r>
            <a:endParaRPr lang="en-US" dirty="0"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001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Skills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/>
            <a:r>
              <a:rPr lang="en-IN" sz="2200" dirty="0">
                <a:latin typeface="Gill Sans Light"/>
              </a:rPr>
              <a:t>Resources </a:t>
            </a:r>
            <a:r>
              <a:rPr lang="en-IN" sz="2200">
                <a:latin typeface="Gill Sans Light"/>
              </a:rPr>
              <a:t>Requirement – No</a:t>
            </a:r>
            <a:endParaRPr lang="en-IN" sz="2200" b="1" dirty="0">
              <a:latin typeface="Gill Sans Light"/>
            </a:endParaRPr>
          </a:p>
          <a:p>
            <a:pPr fontAlgn="ctr"/>
            <a:r>
              <a:rPr lang="en-IN" sz="2200" dirty="0">
                <a:latin typeface="Gill Sans Light"/>
              </a:rPr>
              <a:t>Skills – No</a:t>
            </a:r>
          </a:p>
          <a:p>
            <a:pPr fontAlgn="ctr"/>
            <a:endParaRPr lang="en-IN" b="1" dirty="0"/>
          </a:p>
          <a:p>
            <a:pPr font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40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449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2 2014">
  <a:themeElements>
    <a:clrScheme name="V2 Theme">
      <a:dk1>
        <a:srgbClr val="494342"/>
      </a:dk1>
      <a:lt1>
        <a:sysClr val="window" lastClr="FFFFFF"/>
      </a:lt1>
      <a:dk2>
        <a:srgbClr val="2D81AF"/>
      </a:dk2>
      <a:lt2>
        <a:srgbClr val="F15A24"/>
      </a:lt2>
      <a:accent1>
        <a:srgbClr val="76B1CD"/>
      </a:accent1>
      <a:accent2>
        <a:srgbClr val="D87C43"/>
      </a:accent2>
      <a:accent3>
        <a:srgbClr val="8DA408"/>
      </a:accent3>
      <a:accent4>
        <a:srgbClr val="FBB03B"/>
      </a:accent4>
      <a:accent5>
        <a:srgbClr val="A952A5"/>
      </a:accent5>
      <a:accent6>
        <a:srgbClr val="9D9EA2"/>
      </a:accent6>
      <a:hlink>
        <a:srgbClr val="76B1CD"/>
      </a:hlink>
      <a:folHlink>
        <a:srgbClr val="F15A24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ppt/theme/themeOverride2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8115A505E920458439EA2D0990506C" ma:contentTypeVersion="6" ma:contentTypeDescription="Create a new document." ma:contentTypeScope="" ma:versionID="4723771481a9aba95378039daa94b88f">
  <xsd:schema xmlns:xsd="http://www.w3.org/2001/XMLSchema" xmlns:xs="http://www.w3.org/2001/XMLSchema" xmlns:p="http://schemas.microsoft.com/office/2006/metadata/properties" xmlns:ns2="4a4c05dd-df60-40a2-8484-219aa1d78252" xmlns:ns3="b1190d85-c0e6-4344-a882-7b3839a01e96" targetNamespace="http://schemas.microsoft.com/office/2006/metadata/properties" ma:root="true" ma:fieldsID="8b172b6740cd2a435fbb3df075f3f220" ns2:_="" ns3:_="">
    <xsd:import namespace="4a4c05dd-df60-40a2-8484-219aa1d78252"/>
    <xsd:import namespace="b1190d85-c0e6-4344-a882-7b3839a01e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c05dd-df60-40a2-8484-219aa1d782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90d85-c0e6-4344-a882-7b3839a01e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615A71-B4F0-45F5-8DBB-6F3A52761A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4c05dd-df60-40a2-8484-219aa1d78252"/>
    <ds:schemaRef ds:uri="b1190d85-c0e6-4344-a882-7b3839a01e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5BFA2F-D574-42CC-996A-2038CEC6CAE3}">
  <ds:schemaRefs>
    <ds:schemaRef ds:uri="http://www.w3.org/XML/1998/namespace"/>
    <ds:schemaRef ds:uri="4a4c05dd-df60-40a2-8484-219aa1d78252"/>
    <ds:schemaRef ds:uri="http://purl.org/dc/dcmitype/"/>
    <ds:schemaRef ds:uri="http://schemas.microsoft.com/office/2006/metadata/properties"/>
    <ds:schemaRef ds:uri="b1190d85-c0e6-4344-a882-7b3839a01e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B8BF2C1-E786-4160-A75F-26F487C993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3116</TotalTime>
  <Words>290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-apple-system</vt:lpstr>
      <vt:lpstr>Arial</vt:lpstr>
      <vt:lpstr>Century Gothic</vt:lpstr>
      <vt:lpstr>Courier New</vt:lpstr>
      <vt:lpstr>Gill Sans Light</vt:lpstr>
      <vt:lpstr>Helvetica Neue Light</vt:lpstr>
      <vt:lpstr>Wingdings</vt:lpstr>
      <vt:lpstr>V2 2014</vt:lpstr>
      <vt:lpstr>FLEX</vt:lpstr>
      <vt:lpstr>Agenda</vt:lpstr>
      <vt:lpstr>Goals Achieved in March</vt:lpstr>
      <vt:lpstr>Carryover and Reopen Details</vt:lpstr>
      <vt:lpstr>Key Achievements</vt:lpstr>
      <vt:lpstr>Challenges Faced and Mitigation plan</vt:lpstr>
      <vt:lpstr>Project RoadMap</vt:lpstr>
      <vt:lpstr>Resources and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Hall</dc:creator>
  <dc:description>Doc. Ref. No.: V2/DOC/COM/012                   Rev. No.: 2                                 W.e.f : 3 Feb 2016</dc:description>
  <cp:lastModifiedBy>Saurabh Chowdhury</cp:lastModifiedBy>
  <cp:revision>149</cp:revision>
  <dcterms:created xsi:type="dcterms:W3CDTF">2014-09-05T18:58:01Z</dcterms:created>
  <dcterms:modified xsi:type="dcterms:W3CDTF">2026-04-02T07:58:37Z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0x0101004F8115A505E920458439EA2D0990506C</vt:lpwstr>
  </property>
</Properties>
</file>