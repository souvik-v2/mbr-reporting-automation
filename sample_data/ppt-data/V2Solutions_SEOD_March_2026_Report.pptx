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4"/>
  </p:sldMasterIdLst>
  <p:sldIdLst>
    <p:sldId id="275" r:id="rId5"/>
    <p:sldId id="259" r:id="rId6"/>
    <p:sldId id="257" r:id="rId7"/>
    <p:sldId id="296" r:id="rId8"/>
    <p:sldId id="297" r:id="rId9"/>
    <p:sldId id="305" r:id="rId10"/>
    <p:sldId id="304" r:id="rId11"/>
    <p:sldId id="298" r:id="rId12"/>
    <p:sldId id="301" r:id="rId13"/>
    <p:sldId id="291" r:id="rId14"/>
    <p:sldId id="294" r:id="rId15"/>
    <p:sldId id="27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130" autoAdjust="0"/>
  </p:normalViewPr>
  <p:slideViewPr>
    <p:cSldViewPr snapToGrid="0" snapToObjects="1"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Placeholder 21"/>
          <p:cNvSpPr>
            <a:spLocks noGrp="1"/>
          </p:cNvSpPr>
          <p:nvPr>
            <p:ph type="title"/>
          </p:nvPr>
        </p:nvSpPr>
        <p:spPr>
          <a:xfrm>
            <a:off x="1357098" y="3505200"/>
            <a:ext cx="6438901" cy="7620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>
              <a:defRPr sz="2000">
                <a:latin typeface="Arial"/>
                <a:cs typeface="Arial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768022" y="4185903"/>
            <a:ext cx="3664330" cy="52038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pic>
        <p:nvPicPr>
          <p:cNvPr id="3" name="Picture 2" descr="V2Solutions_Logo_Stacked_2014_09_1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675" y="1230790"/>
            <a:ext cx="3653677" cy="22740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81322" y="4881036"/>
            <a:ext cx="3657568" cy="729125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2781322" y="6258560"/>
            <a:ext cx="3657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94342"/>
                </a:solidFill>
              </a:rPr>
              <a:t>2340</a:t>
            </a:r>
            <a:r>
              <a:rPr lang="en-US" sz="1000" baseline="0" dirty="0">
                <a:solidFill>
                  <a:srgbClr val="494342"/>
                </a:solidFill>
              </a:rPr>
              <a:t> D. Walsh Ave, Santa Clara, CA. 95051 </a:t>
            </a:r>
            <a:endParaRPr lang="en-US" sz="1000" dirty="0">
              <a:solidFill>
                <a:srgbClr val="49434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 typeface="Arial"/>
              <a:buNone/>
              <a:defRPr sz="2400"/>
            </a:lvl1pPr>
            <a:lvl2pPr marL="365760" indent="0">
              <a:buSzPct val="60000"/>
              <a:buFont typeface="Arial"/>
              <a:buNone/>
              <a:defRPr sz="2000"/>
            </a:lvl2pPr>
            <a:lvl3pPr marL="685800" indent="0">
              <a:buClr>
                <a:schemeClr val="tx2"/>
              </a:buClr>
              <a:buSzPct val="125000"/>
              <a:buFont typeface="Arial"/>
              <a:buNone/>
              <a:defRPr sz="1800"/>
            </a:lvl3pPr>
            <a:lvl4pPr marL="1143000" indent="0">
              <a:buClr>
                <a:schemeClr val="accent1"/>
              </a:buClr>
              <a:buSzPct val="90000"/>
              <a:buFont typeface="Arial"/>
              <a:buNone/>
              <a:defRPr sz="1600"/>
            </a:lvl4pPr>
            <a:lvl5pPr marL="1600200" indent="0">
              <a:buClr>
                <a:schemeClr val="accent2"/>
              </a:buClr>
              <a:buSzPct val="90000"/>
              <a:buFont typeface="Arial"/>
              <a:buNone/>
              <a:defRPr sz="1400"/>
            </a:lvl5pPr>
            <a:lvl6pPr marL="187452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6pPr>
            <a:lvl7pPr marL="214884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7pPr>
            <a:lvl8pPr marL="242316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8pPr>
            <a:lvl9pPr marL="269748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9571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no Bol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70000"/>
              <a:buFont typeface="Wingdings" charset="2"/>
              <a:buNone/>
              <a:defRPr sz="2200" b="0" i="0">
                <a:latin typeface="Gill Sans Light"/>
                <a:cs typeface="Gill Sans Light"/>
              </a:defRPr>
            </a:lvl1pPr>
            <a:lvl2pPr marL="365760" indent="0">
              <a:buSzPct val="60000"/>
              <a:buFont typeface="Wingdings" charset="2"/>
              <a:buNone/>
              <a:defRPr sz="2000"/>
            </a:lvl2pPr>
            <a:lvl3pPr marL="685800" indent="0">
              <a:buClr>
                <a:schemeClr val="tx2"/>
              </a:buClr>
              <a:buSzPct val="125000"/>
              <a:buFont typeface="Arial"/>
              <a:buNone/>
              <a:defRPr sz="1800"/>
            </a:lvl3pPr>
            <a:lvl4pPr marL="1143000" indent="0">
              <a:buClr>
                <a:schemeClr val="accent1"/>
              </a:buClr>
              <a:buSzPct val="90000"/>
              <a:buFont typeface="Courier New"/>
              <a:buNone/>
              <a:defRPr sz="1600"/>
            </a:lvl4pPr>
            <a:lvl5pPr marL="1600200" indent="0">
              <a:buClr>
                <a:schemeClr val="accent2"/>
              </a:buClr>
              <a:buSzPct val="90000"/>
              <a:buFont typeface="Courier New"/>
              <a:buNone/>
              <a:defRPr sz="1400"/>
            </a:lvl5pPr>
            <a:lvl6pPr marL="187452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6pPr>
            <a:lvl7pPr marL="214884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7pPr>
            <a:lvl8pPr marL="242316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8pPr>
            <a:lvl9pPr marL="269748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1785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2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4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0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1382220" y="2006663"/>
            <a:ext cx="1136984" cy="1136985"/>
            <a:chOff x="1687021" y="2717864"/>
            <a:chExt cx="981540" cy="981541"/>
          </a:xfrm>
        </p:grpSpPr>
        <p:sp>
          <p:nvSpPr>
            <p:cNvPr id="15" name="Shape 95"/>
            <p:cNvSpPr/>
            <p:nvPr userDrawn="1"/>
          </p:nvSpPr>
          <p:spPr>
            <a:xfrm>
              <a:off x="1687021" y="2717864"/>
              <a:ext cx="981540" cy="981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grpSp>
          <p:nvGrpSpPr>
            <p:cNvPr id="16" name="Group 101"/>
            <p:cNvGrpSpPr>
              <a:grpSpLocks noChangeAspect="1"/>
            </p:cNvGrpSpPr>
            <p:nvPr userDrawn="1"/>
          </p:nvGrpSpPr>
          <p:grpSpPr>
            <a:xfrm>
              <a:off x="1728067" y="2758909"/>
              <a:ext cx="899447" cy="899448"/>
              <a:chOff x="0" y="0"/>
              <a:chExt cx="1280160" cy="1280160"/>
            </a:xfrm>
          </p:grpSpPr>
          <p:sp>
            <p:nvSpPr>
              <p:cNvPr id="17" name="Shape 96"/>
              <p:cNvSpPr/>
              <p:nvPr/>
            </p:nvSpPr>
            <p:spPr>
              <a:xfrm rot="16200000">
                <a:off x="-1" y="0"/>
                <a:ext cx="1280162" cy="12801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6B1C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8" name="Group 100"/>
              <p:cNvGrpSpPr/>
              <p:nvPr/>
            </p:nvGrpSpPr>
            <p:grpSpPr>
              <a:xfrm>
                <a:off x="464661" y="363060"/>
                <a:ext cx="350838" cy="583344"/>
                <a:chOff x="0" y="0"/>
                <a:chExt cx="350837" cy="583342"/>
              </a:xfrm>
            </p:grpSpPr>
            <p:sp>
              <p:nvSpPr>
                <p:cNvPr id="19" name="Shape 97"/>
                <p:cNvSpPr/>
                <p:nvPr/>
              </p:nvSpPr>
              <p:spPr>
                <a:xfrm>
                  <a:off x="-1" y="-1"/>
                  <a:ext cx="350839" cy="5833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414"/>
                      </a:moveTo>
                      <a:lnTo>
                        <a:pt x="0" y="0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/>
                  <a:endParaRPr/>
                </a:p>
              </p:txBody>
            </p:sp>
            <p:sp>
              <p:nvSpPr>
                <p:cNvPr id="20" name="Shape 98"/>
                <p:cNvSpPr/>
                <p:nvPr/>
              </p:nvSpPr>
              <p:spPr>
                <a:xfrm>
                  <a:off x="59795" y="44957"/>
                  <a:ext cx="243057" cy="5237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426" y="0"/>
                      </a:moveTo>
                      <a:lnTo>
                        <a:pt x="0" y="0"/>
                      </a:lnTo>
                      <a:lnTo>
                        <a:pt x="0" y="18544"/>
                      </a:lnTo>
                      <a:lnTo>
                        <a:pt x="21600" y="21600"/>
                      </a:lnTo>
                      <a:lnTo>
                        <a:pt x="21426" y="0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/>
                  <a:endParaRPr/>
                </a:p>
              </p:txBody>
            </p:sp>
            <p:sp>
              <p:nvSpPr>
                <p:cNvPr id="21" name="Shape 99"/>
                <p:cNvSpPr/>
                <p:nvPr/>
              </p:nvSpPr>
              <p:spPr>
                <a:xfrm>
                  <a:off x="95442" y="249214"/>
                  <a:ext cx="30481" cy="304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</p:grp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734705" y="2204135"/>
            <a:ext cx="4776641" cy="70908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se Study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chemeClr val="tx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7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chemeClr val="bg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0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chemeClr val="tx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chemeClr val="bg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734705" y="2204135"/>
            <a:ext cx="4776641" cy="70908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3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3" y="1999877"/>
            <a:ext cx="114300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3" y="1999877"/>
            <a:ext cx="1143000" cy="1143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35242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3824731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7" name="Content Placeholder 7"/>
          <p:cNvSpPr>
            <a:spLocks noGrp="1"/>
          </p:cNvSpPr>
          <p:nvPr>
            <p:ph sz="quarter" idx="11"/>
          </p:nvPr>
        </p:nvSpPr>
        <p:spPr>
          <a:xfrm>
            <a:off x="4679189" y="1206502"/>
            <a:ext cx="3824731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193800"/>
            <a:ext cx="3886200" cy="640080"/>
          </a:xfrm>
          <a:solidFill>
            <a:schemeClr val="accent1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597400" y="11938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62534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2"/>
          </p:nvPr>
        </p:nvSpPr>
        <p:spPr>
          <a:xfrm>
            <a:off x="467918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193800"/>
            <a:ext cx="3886200" cy="640080"/>
          </a:xfrm>
          <a:solidFill>
            <a:schemeClr val="accent1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597400" y="11938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1"/>
          </p:nvPr>
        </p:nvSpPr>
        <p:spPr>
          <a:xfrm>
            <a:off x="62534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10" name="Content Placeholder 7"/>
          <p:cNvSpPr>
            <a:spLocks noGrp="1"/>
          </p:cNvSpPr>
          <p:nvPr>
            <p:ph sz="quarter" idx="12"/>
          </p:nvPr>
        </p:nvSpPr>
        <p:spPr>
          <a:xfrm>
            <a:off x="467918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4412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219200"/>
            <a:ext cx="1600200" cy="4736592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2438400" y="1206502"/>
            <a:ext cx="6077712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641600"/>
            <a:ext cx="9144000" cy="153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Thank</a:t>
            </a:r>
            <a:r>
              <a:rPr lang="en-US" sz="2800" baseline="0" dirty="0"/>
              <a:t> You</a:t>
            </a:r>
            <a:endParaRPr lang="en-US" sz="2800" dirty="0"/>
          </a:p>
        </p:txBody>
      </p:sp>
      <p:pic>
        <p:nvPicPr>
          <p:cNvPr id="2" name="Picture 1" descr="V2Solutions_Logo_Stacked_No_Tag_2014_09_1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90" y="584200"/>
            <a:ext cx="3306354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1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 vert="vert"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607646" cy="70908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193800"/>
            <a:ext cx="7886700" cy="47371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30" name="Shape 34"/>
          <p:cNvSpPr/>
          <p:nvPr/>
        </p:nvSpPr>
        <p:spPr>
          <a:xfrm>
            <a:off x="-1424" y="869723"/>
            <a:ext cx="7218670" cy="1"/>
          </a:xfrm>
          <a:prstGeom prst="line">
            <a:avLst/>
          </a:prstGeom>
          <a:ln w="381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dirty="0"/>
          </a:p>
        </p:txBody>
      </p:sp>
      <p:sp>
        <p:nvSpPr>
          <p:cNvPr id="32" name="Shape 37"/>
          <p:cNvSpPr/>
          <p:nvPr/>
        </p:nvSpPr>
        <p:spPr>
          <a:xfrm>
            <a:off x="-17827" y="6249246"/>
            <a:ext cx="6543135" cy="1"/>
          </a:xfrm>
          <a:prstGeom prst="line">
            <a:avLst/>
          </a:prstGeom>
          <a:ln w="127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6718300" y="869721"/>
            <a:ext cx="2425700" cy="5379525"/>
            <a:chOff x="6426200" y="869721"/>
            <a:chExt cx="2717800" cy="5379525"/>
          </a:xfrm>
        </p:grpSpPr>
        <p:sp>
          <p:nvSpPr>
            <p:cNvPr id="31" name="Shape 36"/>
            <p:cNvSpPr/>
            <p:nvPr userDrawn="1"/>
          </p:nvSpPr>
          <p:spPr>
            <a:xfrm flipV="1">
              <a:off x="7213600" y="869721"/>
              <a:ext cx="1930400" cy="2"/>
            </a:xfrm>
            <a:prstGeom prst="line">
              <a:avLst/>
            </a:prstGeom>
            <a:ln w="38100">
              <a:solidFill>
                <a:srgbClr val="2D81AF"/>
              </a:solidFill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33" name="Shape 38"/>
            <p:cNvSpPr/>
            <p:nvPr/>
          </p:nvSpPr>
          <p:spPr>
            <a:xfrm flipV="1">
              <a:off x="6426200" y="6249244"/>
              <a:ext cx="2717800" cy="2"/>
            </a:xfrm>
            <a:prstGeom prst="line">
              <a:avLst/>
            </a:prstGeom>
            <a:ln w="12700">
              <a:solidFill>
                <a:srgbClr val="2D81AF"/>
              </a:solidFill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pic>
        <p:nvPicPr>
          <p:cNvPr id="34" name="pasted-image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44678" y="6497786"/>
            <a:ext cx="1254670" cy="13191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484880" y="63640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2D81AF"/>
                </a:solidFill>
              </a:defRPr>
            </a:lvl1pPr>
          </a:lstStyle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Shape 8"/>
          <p:cNvSpPr/>
          <p:nvPr/>
        </p:nvSpPr>
        <p:spPr>
          <a:xfrm>
            <a:off x="612648" y="6415517"/>
            <a:ext cx="735779" cy="25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>
                <a:solidFill>
                  <a:srgbClr val="3F3D4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1000" dirty="0">
                <a:solidFill>
                  <a:srgbClr val="3F3D40"/>
                </a:solidFill>
              </a:rPr>
              <a:t>INTERNAL</a:t>
            </a:r>
            <a:endParaRPr sz="1000" dirty="0">
              <a:solidFill>
                <a:srgbClr val="3F3D40"/>
              </a:solidFill>
            </a:endParaRPr>
          </a:p>
        </p:txBody>
      </p:sp>
      <p:pic>
        <p:nvPicPr>
          <p:cNvPr id="2" name="Picture 1" descr="V2Solutions_Mark_Only_2014_09_16.png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918" y="287866"/>
            <a:ext cx="413430" cy="4114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22" r:id="rId2"/>
    <p:sldLayoutId id="2147483727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29" r:id="rId9"/>
    <p:sldLayoutId id="2147483717" r:id="rId10"/>
    <p:sldLayoutId id="2147483719" r:id="rId11"/>
    <p:sldLayoutId id="2147483723" r:id="rId12"/>
    <p:sldLayoutId id="2147483720" r:id="rId13"/>
    <p:sldLayoutId id="2147483718" r:id="rId14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rgbClr val="49434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bg2"/>
        </a:buClr>
        <a:buSzPct val="70000"/>
        <a:buFont typeface="Wingdings" charset="2"/>
        <a:buChar char=""/>
        <a:defRPr kumimoji="0" sz="2900" b="0" i="0" kern="1200">
          <a:solidFill>
            <a:schemeClr val="tx1"/>
          </a:solidFill>
          <a:latin typeface="Arial"/>
          <a:ea typeface="+mn-ea"/>
          <a:cs typeface="Arial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60000"/>
        <a:buFont typeface="Wingdings" charset="2"/>
        <a:buChar char=""/>
        <a:defRPr kumimoji="0" sz="2600" b="0" i="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914400" indent="-228600" algn="l" rtl="0" eaLnBrk="1" latinLnBrk="0" hangingPunct="1">
        <a:spcBef>
          <a:spcPts val="500"/>
        </a:spcBef>
        <a:buClr>
          <a:schemeClr val="tx2"/>
        </a:buClr>
        <a:buSzPct val="125000"/>
        <a:buFont typeface="Arial"/>
        <a:buChar char="•"/>
        <a:defRPr kumimoji="0" sz="2300" b="0" i="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371600" indent="-228600" algn="l" rtl="0" eaLnBrk="1" latinLnBrk="0" hangingPunct="1">
        <a:spcBef>
          <a:spcPts val="400"/>
        </a:spcBef>
        <a:buClr>
          <a:schemeClr val="tx2"/>
        </a:buClr>
        <a:buSzPct val="120000"/>
        <a:buFont typeface="Arial"/>
        <a:buChar char="•"/>
        <a:defRPr kumimoji="0"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1828800" indent="-228600" algn="l" rtl="0" eaLnBrk="1" latinLnBrk="0" hangingPunct="1">
        <a:spcBef>
          <a:spcPts val="400"/>
        </a:spcBef>
        <a:buClr>
          <a:schemeClr val="tx2"/>
        </a:buClr>
        <a:buSzPct val="115000"/>
        <a:buFont typeface="Arial"/>
        <a:buChar char="•"/>
        <a:defRPr kumimoji="0"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 Consumer Website (SEOD)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March Month Report 2026</a:t>
            </a:r>
          </a:p>
        </p:txBody>
      </p:sp>
    </p:spTree>
    <p:extLst>
      <p:ext uri="{BB962C8B-B14F-4D97-AF65-F5344CB8AC3E}">
        <p14:creationId xmlns:p14="http://schemas.microsoft.com/office/powerpoint/2010/main" val="137758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Review of last month</a:t>
            </a:r>
            <a:endParaRPr lang="en-IN" dirty="0"/>
          </a:p>
          <a:p>
            <a:pPr lvl="1"/>
            <a:r>
              <a:rPr lang="en-US" dirty="0"/>
              <a:t>List of goals achieved in each sprint</a:t>
            </a:r>
            <a:endParaRPr lang="en-IN" dirty="0"/>
          </a:p>
          <a:p>
            <a:pPr lvl="1"/>
            <a:r>
              <a:rPr lang="en-US" dirty="0"/>
              <a:t>Key takeaways other than goals</a:t>
            </a:r>
          </a:p>
          <a:p>
            <a:pPr lvl="0"/>
            <a:r>
              <a:rPr lang="en-US" dirty="0"/>
              <a:t>Road Ahead</a:t>
            </a:r>
            <a:endParaRPr lang="en-IN" dirty="0"/>
          </a:p>
          <a:p>
            <a:pPr lvl="1"/>
            <a:r>
              <a:rPr lang="en-US" dirty="0"/>
              <a:t>Product Roadmap (next month or sprint)</a:t>
            </a:r>
            <a:endParaRPr lang="en-IN" dirty="0"/>
          </a:p>
          <a:p>
            <a:pPr lvl="1"/>
            <a:r>
              <a:rPr lang="en-US" dirty="0"/>
              <a:t>Resource requirements</a:t>
            </a:r>
            <a:endParaRPr lang="en-IN" dirty="0"/>
          </a:p>
          <a:p>
            <a:pPr lvl="1"/>
            <a:r>
              <a:rPr lang="en-US" dirty="0"/>
              <a:t>Skill upgrades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66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IN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Goals Achieved in March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E65-5838-4B62-BE09-67B4659ACCF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1276" y="977637"/>
            <a:ext cx="7890763" cy="5227551"/>
          </a:xfrm>
        </p:spPr>
        <p:txBody>
          <a:bodyPr>
            <a:noAutofit/>
          </a:bodyPr>
          <a:lstStyle/>
          <a:p>
            <a:pPr marL="0" lvl="1" indent="0">
              <a:spcBef>
                <a:spcPts val="700"/>
              </a:spcBef>
              <a:buClr>
                <a:schemeClr val="bg2"/>
              </a:buClr>
              <a:buSzPct val="70000"/>
              <a:buNone/>
            </a:pPr>
            <a:r>
              <a:rPr lang="en-IN" b="1" dirty="0"/>
              <a:t>Typography &amp; UI Enhancements</a:t>
            </a:r>
          </a:p>
          <a:p>
            <a:pPr marL="0" lvl="1" indent="0">
              <a:spcBef>
                <a:spcPts val="700"/>
              </a:spcBef>
              <a:buClr>
                <a:schemeClr val="bg2"/>
              </a:buClr>
              <a:buSzPct val="70000"/>
              <a:buNone/>
            </a:pPr>
            <a:r>
              <a:rPr lang="en-US" b="1" dirty="0"/>
              <a:t>Focus:</a:t>
            </a:r>
            <a:r>
              <a:rPr lang="en-US" dirty="0"/>
              <a:t> Improving visual consistency, readability, and UI polish</a:t>
            </a:r>
            <a:endParaRPr lang="en-IN" b="1" dirty="0">
              <a:latin typeface="Arial"/>
              <a:cs typeface="Arial"/>
            </a:endParaRP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/>
                <a:cs typeface="Arial"/>
              </a:rPr>
              <a:t>Standardized blog H1 to XL (40px) for consistent headline hierarchy</a:t>
            </a: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/>
                <a:cs typeface="Arial"/>
              </a:rPr>
              <a:t>Fixed mobile typography hierarchy (H3 vs Pull Quote sizing issue)</a:t>
            </a: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/>
                <a:cs typeface="Arial"/>
              </a:rPr>
              <a:t>Aligned ratings with company logos in review components</a:t>
            </a: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/>
                <a:cs typeface="Arial"/>
              </a:rPr>
              <a:t>Improved jump link active state alignment in sidebar navigation</a:t>
            </a: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/>
                <a:cs typeface="Arial"/>
              </a:rPr>
              <a:t>Enhanced ordered list UI (encircled + connected step lists) for better </a:t>
            </a:r>
            <a:r>
              <a:rPr lang="en-IN" sz="1400" dirty="0" err="1">
                <a:latin typeface="Arial"/>
                <a:cs typeface="Arial"/>
              </a:rPr>
              <a:t>scanability</a:t>
            </a:r>
            <a:endParaRPr lang="en-IN" sz="1400" dirty="0">
              <a:latin typeface="Arial"/>
              <a:cs typeface="Arial"/>
            </a:endParaRP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endParaRPr lang="en-IN" sz="1400" dirty="0">
              <a:latin typeface="Arial"/>
              <a:cs typeface="Arial"/>
            </a:endParaRPr>
          </a:p>
          <a:p>
            <a:pPr marL="0" lvl="1" indent="0">
              <a:spcBef>
                <a:spcPts val="700"/>
              </a:spcBef>
              <a:buClr>
                <a:schemeClr val="bg2"/>
              </a:buClr>
              <a:buSzPct val="70000"/>
              <a:buNone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Mobile Rendering &amp; Responsiveness Fixes</a:t>
            </a:r>
          </a:p>
          <a:p>
            <a:pPr marL="0" lvl="1" indent="0">
              <a:spcBef>
                <a:spcPts val="700"/>
              </a:spcBef>
              <a:buClr>
                <a:schemeClr val="bg2"/>
              </a:buClr>
              <a:buSzPct val="70000"/>
              <a:buNone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Focus: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Ensuring consistent experience across devices</a:t>
            </a: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Investigated &amp; fixed content not loading on mobile (nested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shortcode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issue)</a:t>
            </a: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Resolved tabbed tables disappearing on smaller viewports</a:t>
            </a: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Ensured consistent rendering across Android, iOS, and browsers</a:t>
            </a:r>
          </a:p>
          <a:p>
            <a:pPr marL="285750" lvl="1" indent="-285750">
              <a:spcBef>
                <a:spcPts val="700"/>
              </a:spcBef>
              <a:buClr>
                <a:schemeClr val="bg2"/>
              </a:buClr>
              <a:buSzPct val="70000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Eliminated dependency on refresh/query string hacks</a:t>
            </a:r>
          </a:p>
        </p:txBody>
      </p:sp>
    </p:spTree>
    <p:extLst>
      <p:ext uri="{BB962C8B-B14F-4D97-AF65-F5344CB8AC3E}">
        <p14:creationId xmlns:p14="http://schemas.microsoft.com/office/powerpoint/2010/main" val="4041433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B0B2072-E632-7CAF-8474-2BF8DD9F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0E06-FDDA-F6B6-D512-63B57BB9E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</a:t>
            </a:r>
            <a:r>
              <a:rPr lang="en-IN" sz="2800" b="1" dirty="0" err="1">
                <a:solidFill>
                  <a:schemeClr val="tx1">
                    <a:lumMod val="75000"/>
                  </a:schemeClr>
                </a:solidFill>
                <a:latin typeface="+mj-lt"/>
              </a:rPr>
              <a:t>ontinue</a:t>
            </a:r>
            <a:r>
              <a:rPr lang="en-IN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….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07B2A0-19F9-DF0C-83F4-5572147EEE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F6DEA-07B6-A5E5-D624-92ADF446D19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986480"/>
          </a:xfrm>
        </p:spPr>
        <p:txBody>
          <a:bodyPr tIns="91440" bIns="0">
            <a:noAutofit/>
          </a:bodyPr>
          <a:lstStyle/>
          <a:p>
            <a:pPr marL="0" indent="0">
              <a:buNone/>
            </a:pPr>
            <a:r>
              <a:rPr lang="en-IN" sz="1600" b="1" dirty="0" err="1"/>
              <a:t>Shortcode</a:t>
            </a:r>
            <a:r>
              <a:rPr lang="en-IN" sz="1600" b="1" dirty="0"/>
              <a:t> Development &amp; Fixes</a:t>
            </a:r>
          </a:p>
          <a:p>
            <a:pPr marL="0" indent="0">
              <a:buNone/>
            </a:pPr>
            <a:r>
              <a:rPr lang="en-IN" sz="1600" b="1" dirty="0"/>
              <a:t>Focus:</a:t>
            </a:r>
            <a:r>
              <a:rPr lang="en-IN" sz="1600" dirty="0"/>
              <a:t> Improving CMS flexibility and content modules</a:t>
            </a:r>
          </a:p>
          <a:p>
            <a:r>
              <a:rPr lang="en-IN" sz="1600" dirty="0"/>
              <a:t>Fixed </a:t>
            </a:r>
            <a:r>
              <a:rPr lang="en-IN" sz="1600" b="1" dirty="0"/>
              <a:t>[articles] </a:t>
            </a:r>
            <a:r>
              <a:rPr lang="en-IN" sz="1600" b="1" dirty="0" err="1"/>
              <a:t>shortcode</a:t>
            </a:r>
            <a:r>
              <a:rPr lang="en-IN" sz="1600" dirty="0"/>
              <a:t> (related content not rendering) </a:t>
            </a:r>
          </a:p>
          <a:p>
            <a:r>
              <a:rPr lang="en-IN" sz="1600" dirty="0"/>
              <a:t>Built reusable </a:t>
            </a:r>
            <a:r>
              <a:rPr lang="en-IN" sz="1600" b="1" dirty="0"/>
              <a:t>Expert Quote </a:t>
            </a:r>
            <a:r>
              <a:rPr lang="en-IN" sz="1600" b="1" dirty="0" err="1"/>
              <a:t>shortcode</a:t>
            </a:r>
            <a:r>
              <a:rPr lang="en-IN" sz="1600" dirty="0"/>
              <a:t> (image, name, title, content) </a:t>
            </a:r>
          </a:p>
          <a:p>
            <a:r>
              <a:rPr lang="en-IN" sz="1600" dirty="0"/>
              <a:t>Fixed </a:t>
            </a:r>
            <a:r>
              <a:rPr lang="en-IN" sz="1600" b="1" dirty="0" err="1"/>
              <a:t>shortcode</a:t>
            </a:r>
            <a:r>
              <a:rPr lang="en-IN" sz="1600" b="1" dirty="0"/>
              <a:t> conflicts &amp; nesting issues</a:t>
            </a:r>
            <a:r>
              <a:rPr lang="en-IN" sz="1600" dirty="0"/>
              <a:t> across templates </a:t>
            </a:r>
          </a:p>
          <a:p>
            <a:r>
              <a:rPr lang="en-IN" sz="1600" dirty="0"/>
              <a:t>Ensured </a:t>
            </a:r>
            <a:r>
              <a:rPr lang="en-IN" sz="1600" b="1" dirty="0"/>
              <a:t>consistent rendering across all page types</a:t>
            </a:r>
          </a:p>
          <a:p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Accessibility (A11y) Improvements</a:t>
            </a:r>
          </a:p>
          <a:p>
            <a:pPr marL="0" indent="0">
              <a:buNone/>
            </a:pPr>
            <a:r>
              <a:rPr lang="en-IN" sz="1600" b="1" dirty="0"/>
              <a:t>Focus:</a:t>
            </a:r>
            <a:r>
              <a:rPr lang="en-IN" sz="1600" dirty="0"/>
              <a:t> WCAG compliance and better assistive tech support</a:t>
            </a:r>
          </a:p>
          <a:p>
            <a:r>
              <a:rPr lang="en-IN" sz="1600" dirty="0"/>
              <a:t>Fixed </a:t>
            </a:r>
            <a:r>
              <a:rPr lang="en-IN" sz="1600" b="1" dirty="0"/>
              <a:t>Footer “Legal” list semantics</a:t>
            </a:r>
            <a:r>
              <a:rPr lang="en-IN" sz="1600" dirty="0"/>
              <a:t> (proper list structure) </a:t>
            </a:r>
          </a:p>
          <a:p>
            <a:r>
              <a:rPr lang="en-IN" sz="1600" dirty="0"/>
              <a:t>Corrected </a:t>
            </a:r>
            <a:r>
              <a:rPr lang="en-IN" sz="1600" b="1" dirty="0"/>
              <a:t>Tabs ARIA implementation</a:t>
            </a:r>
            <a:r>
              <a:rPr lang="en-IN" sz="1600" dirty="0"/>
              <a:t> (tab, </a:t>
            </a:r>
            <a:r>
              <a:rPr lang="en-IN" sz="1600" dirty="0" err="1"/>
              <a:t>tablist</a:t>
            </a:r>
            <a:r>
              <a:rPr lang="en-IN" sz="1600" dirty="0"/>
              <a:t>, </a:t>
            </a:r>
            <a:r>
              <a:rPr lang="en-IN" sz="1600" dirty="0" err="1"/>
              <a:t>tabpanel</a:t>
            </a:r>
            <a:r>
              <a:rPr lang="en-IN" sz="1600" dirty="0"/>
              <a:t> relationships) </a:t>
            </a:r>
          </a:p>
          <a:p>
            <a:r>
              <a:rPr lang="en-IN" sz="1600" dirty="0"/>
              <a:t>Removed invalid </a:t>
            </a:r>
            <a:r>
              <a:rPr lang="en-IN" sz="1600" b="1" dirty="0"/>
              <a:t>ARIA roles from </a:t>
            </a:r>
            <a:r>
              <a:rPr lang="en-IN" sz="1600" b="1" dirty="0" err="1"/>
              <a:t>shortcode</a:t>
            </a:r>
            <a:r>
              <a:rPr lang="en-IN" sz="1600" b="1" dirty="0"/>
              <a:t> links</a:t>
            </a:r>
            <a:r>
              <a:rPr lang="en-IN" sz="1600" dirty="0"/>
              <a:t> </a:t>
            </a:r>
          </a:p>
          <a:p>
            <a:r>
              <a:rPr lang="en-IN" sz="1600" dirty="0"/>
              <a:t>Ensured </a:t>
            </a:r>
            <a:r>
              <a:rPr lang="en-IN" sz="1600" b="1" dirty="0"/>
              <a:t>keyboard navigation &amp; screen reader compatibility</a:t>
            </a:r>
            <a:r>
              <a:rPr lang="en-IN" sz="1600" dirty="0"/>
              <a:t> </a:t>
            </a:r>
          </a:p>
          <a:p>
            <a:r>
              <a:rPr lang="en-IN" sz="1600" dirty="0"/>
              <a:t>Resolved Lighthouse accessibility errors</a:t>
            </a:r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759763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16DC-CD90-DAE7-B01E-3D887AE6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68" y="206959"/>
            <a:ext cx="6438901" cy="70908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</a:t>
            </a:r>
            <a:r>
              <a:rPr lang="en-IN" dirty="0" err="1">
                <a:solidFill>
                  <a:schemeClr val="tx1">
                    <a:lumMod val="75000"/>
                  </a:schemeClr>
                </a:solidFill>
              </a:rPr>
              <a:t>ontinue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….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22B0B7-B82A-BEBD-5A24-DF2318319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9FE57-BAC2-3513-9856-19667C2D7E7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35999"/>
            <a:ext cx="7890763" cy="4729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Table UX &amp; Interaction Improvements</a:t>
            </a:r>
          </a:p>
          <a:p>
            <a:pPr marL="0" indent="0">
              <a:buNone/>
            </a:pPr>
            <a:r>
              <a:rPr lang="en-IN" sz="1600" b="1" dirty="0"/>
              <a:t>Focus:</a:t>
            </a:r>
            <a:r>
              <a:rPr lang="en-IN" sz="1600" dirty="0"/>
              <a:t> Better usability for large datasets</a:t>
            </a:r>
          </a:p>
          <a:p>
            <a:r>
              <a:rPr lang="en-IN" sz="1600" dirty="0"/>
              <a:t>Introduced </a:t>
            </a:r>
            <a:r>
              <a:rPr lang="en-IN" sz="1600" b="1" dirty="0"/>
              <a:t>scrollable table container with sticky header</a:t>
            </a:r>
            <a:r>
              <a:rPr lang="en-IN" sz="1600" dirty="0"/>
              <a:t> </a:t>
            </a:r>
          </a:p>
          <a:p>
            <a:r>
              <a:rPr lang="en-IN" sz="1600" dirty="0"/>
              <a:t>Improved </a:t>
            </a:r>
            <a:r>
              <a:rPr lang="en-IN" sz="1600" b="1" dirty="0"/>
              <a:t>expand/collapse </a:t>
            </a:r>
            <a:r>
              <a:rPr lang="en-IN" sz="1600" b="1" dirty="0" err="1"/>
              <a:t>behavior</a:t>
            </a:r>
            <a:r>
              <a:rPr lang="en-IN" sz="1600" b="1" dirty="0"/>
              <a:t> for long tables</a:t>
            </a:r>
            <a:r>
              <a:rPr lang="en-IN" sz="1600" dirty="0"/>
              <a:t> </a:t>
            </a:r>
          </a:p>
          <a:p>
            <a:r>
              <a:rPr lang="en-IN" sz="1600" dirty="0"/>
              <a:t>Prevented excessive page scrolling for large datasets </a:t>
            </a:r>
          </a:p>
          <a:p>
            <a:r>
              <a:rPr lang="en-IN" sz="1600" dirty="0"/>
              <a:t>Maintained compatibility with </a:t>
            </a:r>
            <a:r>
              <a:rPr lang="en-IN" sz="1600" b="1" dirty="0"/>
              <a:t>search, sorting, filtering</a:t>
            </a:r>
          </a:p>
          <a:p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SEO &amp; Indexing Improvements</a:t>
            </a:r>
          </a:p>
          <a:p>
            <a:pPr marL="0" indent="0">
              <a:buNone/>
            </a:pPr>
            <a:r>
              <a:rPr lang="en-IN" sz="1600" b="1" dirty="0"/>
              <a:t>Focus:</a:t>
            </a:r>
            <a:r>
              <a:rPr lang="en-IN" sz="1600" dirty="0"/>
              <a:t> Improving crawlability and search performance</a:t>
            </a:r>
          </a:p>
          <a:p>
            <a:r>
              <a:rPr lang="en-IN" sz="1600" dirty="0"/>
              <a:t>Implemented </a:t>
            </a:r>
            <a:r>
              <a:rPr lang="en-IN" sz="1600" b="1" dirty="0"/>
              <a:t>self-referencing canonicals for paginated pages</a:t>
            </a:r>
            <a:r>
              <a:rPr lang="en-IN" sz="1600" dirty="0"/>
              <a:t> </a:t>
            </a:r>
          </a:p>
          <a:p>
            <a:r>
              <a:rPr lang="en-IN" sz="1600" dirty="0"/>
              <a:t>Prevented incorrect canonicalization to page 1 </a:t>
            </a:r>
          </a:p>
          <a:p>
            <a:r>
              <a:rPr lang="en-IN" sz="1600" dirty="0"/>
              <a:t>Ensured </a:t>
            </a:r>
            <a:r>
              <a:rPr lang="en-IN" sz="1600" b="1" dirty="0"/>
              <a:t>paginated pages remain crawlable (no </a:t>
            </a:r>
            <a:r>
              <a:rPr lang="en-IN" sz="1600" b="1" dirty="0" err="1"/>
              <a:t>noindex</a:t>
            </a:r>
            <a:r>
              <a:rPr lang="en-IN" sz="1600" b="1" dirty="0"/>
              <a:t>/robots blocking)</a:t>
            </a:r>
            <a:r>
              <a:rPr lang="en-IN" sz="1600" dirty="0"/>
              <a:t> </a:t>
            </a:r>
          </a:p>
          <a:p>
            <a:r>
              <a:rPr lang="en-IN" sz="1600" dirty="0"/>
              <a:t>Excluded paginated URLs from </a:t>
            </a:r>
            <a:r>
              <a:rPr lang="en-IN" sz="1600" b="1" dirty="0"/>
              <a:t>XML sitemap</a:t>
            </a:r>
            <a:r>
              <a:rPr lang="en-IN" sz="1600" dirty="0"/>
              <a:t> </a:t>
            </a:r>
          </a:p>
          <a:p>
            <a:r>
              <a:rPr lang="en-IN" sz="1600" dirty="0"/>
              <a:t>Standardized SEO signals across all archive templates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9608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1F93-F43F-C1BC-C328-3528540B8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9C1D-C54B-08BD-7057-06500E90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68" y="206959"/>
            <a:ext cx="6438901" cy="70908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</a:t>
            </a:r>
            <a:r>
              <a:rPr lang="en-IN" dirty="0" err="1">
                <a:solidFill>
                  <a:schemeClr val="tx1">
                    <a:lumMod val="75000"/>
                  </a:schemeClr>
                </a:solidFill>
              </a:rPr>
              <a:t>ontinue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….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B74F2-7630-86CF-BA97-A824A15B6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6993C-62CF-76C2-7404-703B8D9D01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35999"/>
            <a:ext cx="7890763" cy="4729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Bug Fixes &amp; Stability Improvements</a:t>
            </a:r>
          </a:p>
          <a:p>
            <a:pPr marL="0" indent="0">
              <a:buNone/>
            </a:pPr>
            <a:r>
              <a:rPr lang="en-IN" sz="1600" b="1" dirty="0"/>
              <a:t>Focus:</a:t>
            </a:r>
            <a:r>
              <a:rPr lang="en-IN" sz="1600" dirty="0"/>
              <a:t> Stability and consistent </a:t>
            </a:r>
            <a:r>
              <a:rPr lang="en-IN" sz="1600" dirty="0" err="1"/>
              <a:t>behavior</a:t>
            </a:r>
            <a:endParaRPr lang="en-IN" sz="1600" dirty="0"/>
          </a:p>
          <a:p>
            <a:r>
              <a:rPr lang="en-IN" sz="1800" dirty="0"/>
              <a:t>Fixed </a:t>
            </a:r>
            <a:r>
              <a:rPr lang="en-IN" sz="1800" b="1" dirty="0"/>
              <a:t>jump link active state mismatch</a:t>
            </a:r>
            <a:r>
              <a:rPr lang="en-IN" sz="1800" dirty="0"/>
              <a:t> </a:t>
            </a:r>
          </a:p>
          <a:p>
            <a:r>
              <a:rPr lang="en-IN" sz="1800" dirty="0"/>
              <a:t>Resolved </a:t>
            </a:r>
            <a:r>
              <a:rPr lang="en-IN" sz="1800" b="1" dirty="0" err="1"/>
              <a:t>shortcode</a:t>
            </a:r>
            <a:r>
              <a:rPr lang="en-IN" sz="1800" b="1" dirty="0"/>
              <a:t> rendering inconsistencies</a:t>
            </a:r>
            <a:r>
              <a:rPr lang="en-IN" sz="1800" dirty="0"/>
              <a:t> </a:t>
            </a:r>
          </a:p>
          <a:p>
            <a:r>
              <a:rPr lang="en-IN" sz="1800" dirty="0"/>
              <a:t>Addressed </a:t>
            </a:r>
            <a:r>
              <a:rPr lang="en-IN" sz="1800" b="1" dirty="0"/>
              <a:t>JavaScript initialization/timing issues</a:t>
            </a:r>
            <a:r>
              <a:rPr lang="en-IN" sz="1800" dirty="0"/>
              <a:t> </a:t>
            </a:r>
          </a:p>
          <a:p>
            <a:r>
              <a:rPr lang="en-IN" sz="1800" dirty="0"/>
              <a:t>Ensured </a:t>
            </a:r>
            <a:r>
              <a:rPr lang="en-IN" sz="1800" b="1" dirty="0"/>
              <a:t>no regressions across desktop/mobile</a:t>
            </a:r>
            <a:r>
              <a:rPr lang="en-IN" sz="1800" dirty="0"/>
              <a:t> </a:t>
            </a:r>
          </a:p>
          <a:p>
            <a:pPr marL="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65319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84AA-0F44-C1F1-6534-BB42A38C0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EAA7-2015-9F08-4896-636AA938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68" y="206959"/>
            <a:ext cx="6438901" cy="709084"/>
          </a:xfrm>
        </p:spPr>
        <p:txBody>
          <a:bodyPr/>
          <a:lstStyle/>
          <a:p>
            <a:r>
              <a:rPr lang="en-US" dirty="0"/>
              <a:t>In Progress Ticket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B75F7-46F3-1F88-7C92-73FB78454A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54412-0296-A278-0665-4CEF632708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35999"/>
            <a:ext cx="7890763" cy="4729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</a:t>
            </a:r>
            <a:r>
              <a:rPr lang="en-US" altLang="en-US" sz="1800" dirty="0">
                <a:solidFill>
                  <a:srgbClr val="292A2E"/>
                </a:solidFill>
                <a:latin typeface="Atlassian Sans"/>
              </a:rPr>
              <a:t>VP - Home insurance calculator </a:t>
            </a:r>
            <a:r>
              <a:rPr lang="en-US" sz="1800" dirty="0"/>
              <a:t>(SEOD-1922)</a:t>
            </a:r>
          </a:p>
        </p:txBody>
      </p:sp>
    </p:spTree>
    <p:extLst>
      <p:ext uri="{BB962C8B-B14F-4D97-AF65-F5344CB8AC3E}">
        <p14:creationId xmlns:p14="http://schemas.microsoft.com/office/powerpoint/2010/main" val="7808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8D220E-A2B6-ECE7-063C-45F6AB430C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4CB24-7171-94FE-77AD-375D9EAF0B5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Reopened Tickets: 1 (</a:t>
            </a:r>
            <a:r>
              <a:rPr lang="en-US" dirty="0"/>
              <a:t>It was reopened accidentally by Nihar after the ticket was closed. There are no code changes. (SEOD-1921)</a:t>
            </a:r>
            <a:r>
              <a:rPr lang="en-IN"/>
              <a:t>) </a:t>
            </a:r>
          </a:p>
          <a:p>
            <a:r>
              <a:rPr lang="en-IN"/>
              <a:t>Carryover </a:t>
            </a:r>
            <a:r>
              <a:rPr lang="en-IN" dirty="0"/>
              <a:t>Tickets: 0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5CBD1E4-6638-9974-D94B-33ABDD673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32632"/>
            <a:ext cx="4645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Metrics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&amp;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Project Insights: 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277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FA53-B6BF-A32B-B392-9C70DF8D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 Points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6E33D4-E305-827D-2B02-C4C029B561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EB524A-2C0D-5C12-6BD3-C26B812C653F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77166638"/>
              </p:ext>
            </p:extLst>
          </p:nvPr>
        </p:nvGraphicFramePr>
        <p:xfrm>
          <a:off x="353961" y="848784"/>
          <a:ext cx="8159802" cy="9430694"/>
        </p:xfrm>
        <a:graphic>
          <a:graphicData uri="http://schemas.openxmlformats.org/drawingml/2006/table">
            <a:tbl>
              <a:tblPr/>
              <a:tblGrid>
                <a:gridCol w="4079901">
                  <a:extLst>
                    <a:ext uri="{9D8B030D-6E8A-4147-A177-3AD203B41FA5}">
                      <a16:colId xmlns:a16="http://schemas.microsoft.com/office/drawing/2014/main" val="1082936945"/>
                    </a:ext>
                  </a:extLst>
                </a:gridCol>
                <a:gridCol w="4079901">
                  <a:extLst>
                    <a:ext uri="{9D8B030D-6E8A-4147-A177-3AD203B41FA5}">
                      <a16:colId xmlns:a16="http://schemas.microsoft.com/office/drawing/2014/main" val="3318065220"/>
                    </a:ext>
                  </a:extLst>
                </a:gridCol>
              </a:tblGrid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Ticket ID                                    Count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SEOD-1967                                       2                                                      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SEOD-2011                                       2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SEOD-1815                                       2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SEOD-2013                                       2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SEOD-1990                                       3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SEOD-1980                                       2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SEOD-1981                                       2</a:t>
                      </a:r>
                    </a:p>
                    <a:p>
                      <a:pPr>
                        <a:buNone/>
                      </a:pPr>
                      <a:r>
                        <a:rPr lang="en-IN" b="0" dirty="0"/>
                        <a:t>SEOD-1989                                       3</a:t>
                      </a:r>
                    </a:p>
                    <a:p>
                      <a:pPr>
                        <a:buNone/>
                      </a:pPr>
                      <a:r>
                        <a:rPr lang="en-IN" b="0" dirty="0"/>
                        <a:t>SEOD-1984                                       2</a:t>
                      </a:r>
                    </a:p>
                    <a:p>
                      <a:pPr>
                        <a:buNone/>
                      </a:pPr>
                      <a:r>
                        <a:rPr lang="en-IN" b="0" dirty="0"/>
                        <a:t>SEOD-1986                                       2</a:t>
                      </a:r>
                    </a:p>
                    <a:p>
                      <a:pPr>
                        <a:buNone/>
                      </a:pPr>
                      <a:r>
                        <a:rPr lang="en-IN" b="0" dirty="0"/>
                        <a:t>SEOD-1521                                       3</a:t>
                      </a:r>
                    </a:p>
                    <a:p>
                      <a:pPr>
                        <a:buNone/>
                      </a:pPr>
                      <a:r>
                        <a:rPr lang="en-IN" b="0" dirty="0"/>
                        <a:t>SEOD-1972                                       3</a:t>
                      </a:r>
                    </a:p>
                    <a:p>
                      <a:pPr>
                        <a:buNone/>
                      </a:pPr>
                      <a:r>
                        <a:rPr lang="en-IN" b="1" dirty="0"/>
                        <a:t>Total                                                28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39621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T="2743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499970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861110"/>
                  </a:ext>
                </a:extLst>
              </a:tr>
              <a:tr h="1782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073959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23406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35623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857243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77054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962506"/>
                  </a:ext>
                </a:extLst>
              </a:tr>
              <a:tr h="176641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763259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20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019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31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Project Roadmap</a:t>
            </a:r>
            <a:endParaRPr lang="en-IN" sz="2800" b="1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E65-5838-4B62-BE09-67B4659ACCF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6640" y="1064261"/>
            <a:ext cx="7890763" cy="4729477"/>
          </a:xfrm>
        </p:spPr>
        <p:txBody>
          <a:bodyPr>
            <a:normAutofit lnSpcReduction="10000"/>
          </a:bodyPr>
          <a:lstStyle/>
          <a:p>
            <a:r>
              <a:rPr lang="en-US" sz="1600" dirty="0">
                <a:latin typeface="Gill Sans Light"/>
              </a:rPr>
              <a:t> VP - Discovery: Medicare CTA Redirect Creates Navigation Predictability &amp; Accessibility Risk</a:t>
            </a:r>
          </a:p>
          <a:p>
            <a:r>
              <a:rPr lang="en-US" sz="1600" dirty="0">
                <a:latin typeface="Gill Sans Light"/>
              </a:rPr>
              <a:t>VP - Add Logo Link Functionality to [partner-widget]</a:t>
            </a:r>
          </a:p>
          <a:p>
            <a:r>
              <a:rPr lang="en-US" sz="1600" dirty="0">
                <a:latin typeface="Gill Sans Light"/>
              </a:rPr>
              <a:t>VP - Add </a:t>
            </a:r>
            <a:r>
              <a:rPr lang="en-US" sz="1600" dirty="0" err="1">
                <a:latin typeface="Gill Sans Light"/>
              </a:rPr>
              <a:t>DataPro</a:t>
            </a:r>
            <a:r>
              <a:rPr lang="en-US" sz="1600" dirty="0">
                <a:latin typeface="Gill Sans Light"/>
              </a:rPr>
              <a:t> Collection Attribute to [partner-widget]</a:t>
            </a:r>
          </a:p>
          <a:p>
            <a:r>
              <a:rPr lang="en-US" sz="1600" dirty="0">
                <a:latin typeface="Gill Sans Light"/>
              </a:rPr>
              <a:t>VP - Update [partner-widget] Desktop Layout to Match Figma</a:t>
            </a:r>
          </a:p>
          <a:p>
            <a:r>
              <a:rPr lang="en-US" sz="1600" dirty="0">
                <a:latin typeface="Gill Sans Light"/>
              </a:rPr>
              <a:t>VP - Add Color Attribute to [</a:t>
            </a:r>
            <a:r>
              <a:rPr lang="en-US" sz="1600" dirty="0" err="1">
                <a:latin typeface="Gill Sans Light"/>
              </a:rPr>
              <a:t>calloutquote</a:t>
            </a:r>
            <a:r>
              <a:rPr lang="en-US" sz="1600" dirty="0">
                <a:latin typeface="Gill Sans Light"/>
              </a:rPr>
              <a:t>] Within [partner-widget]</a:t>
            </a:r>
          </a:p>
          <a:p>
            <a:r>
              <a:rPr lang="en-US" sz="1600" dirty="0">
                <a:latin typeface="Gill Sans Light"/>
              </a:rPr>
              <a:t>VP - Fix Toggle Text Size in [partner-widget]</a:t>
            </a:r>
          </a:p>
          <a:p>
            <a:r>
              <a:rPr lang="en-US" sz="1600" dirty="0">
                <a:latin typeface="Gill Sans Light"/>
              </a:rPr>
              <a:t>VP - Implement Filter </a:t>
            </a:r>
            <a:r>
              <a:rPr lang="en-US" sz="1600" dirty="0" err="1">
                <a:latin typeface="Gill Sans Light"/>
              </a:rPr>
              <a:t>Shortcode</a:t>
            </a:r>
            <a:r>
              <a:rPr lang="en-US" sz="1600" dirty="0">
                <a:latin typeface="Gill Sans Light"/>
              </a:rPr>
              <a:t> System</a:t>
            </a:r>
          </a:p>
          <a:p>
            <a:r>
              <a:rPr lang="en-US" sz="1600" dirty="0">
                <a:latin typeface="Gill Sans Light"/>
              </a:rPr>
              <a:t>VP - Convert all better banners to partner details </a:t>
            </a:r>
            <a:r>
              <a:rPr lang="en-US" sz="1600" dirty="0" err="1">
                <a:latin typeface="Gill Sans Light"/>
              </a:rPr>
              <a:t>shortcode</a:t>
            </a:r>
            <a:endParaRPr lang="en-US" sz="1600" dirty="0">
              <a:latin typeface="Gill Sans Light"/>
            </a:endParaRPr>
          </a:p>
          <a:p>
            <a:r>
              <a:rPr lang="en-US" sz="1600" dirty="0">
                <a:latin typeface="Gill Sans Light"/>
              </a:rPr>
              <a:t>VP - Change default </a:t>
            </a:r>
            <a:r>
              <a:rPr lang="en-US" sz="1600" dirty="0" err="1">
                <a:latin typeface="Gill Sans Light"/>
              </a:rPr>
              <a:t>DataPro</a:t>
            </a:r>
            <a:r>
              <a:rPr lang="en-US" sz="1600" dirty="0">
                <a:latin typeface="Gill Sans Light"/>
              </a:rPr>
              <a:t> Collection Attribute to [partner-widget]</a:t>
            </a:r>
          </a:p>
          <a:p>
            <a:r>
              <a:rPr lang="en-US" sz="1600" dirty="0">
                <a:latin typeface="Gill Sans Light"/>
              </a:rPr>
              <a:t>VP - Eliminate Render-Blocking Delivery of Global Theme Stylesheet</a:t>
            </a:r>
          </a:p>
          <a:p>
            <a:r>
              <a:rPr lang="en-US" sz="1600" dirty="0">
                <a:latin typeface="Gill Sans Light"/>
              </a:rPr>
              <a:t>VP - Replace </a:t>
            </a:r>
            <a:r>
              <a:rPr lang="en-US" sz="1600" dirty="0" err="1">
                <a:latin typeface="Gill Sans Light"/>
              </a:rPr>
              <a:t>AudioEye</a:t>
            </a:r>
            <a:r>
              <a:rPr lang="en-US" sz="1600" dirty="0">
                <a:latin typeface="Gill Sans Light"/>
              </a:rPr>
              <a:t> JavaScript to Resolve Accessibility Statement Blocking in Firefox</a:t>
            </a:r>
          </a:p>
          <a:p>
            <a:r>
              <a:rPr lang="en-US" sz="1600" dirty="0">
                <a:latin typeface="Gill Sans Light"/>
              </a:rPr>
              <a:t>VP - Discovery: Automate CTA testing</a:t>
            </a:r>
          </a:p>
          <a:p>
            <a:r>
              <a:rPr lang="en-US" sz="1600" dirty="0">
                <a:latin typeface="Gill Sans Light"/>
              </a:rPr>
              <a:t>VP - Update "Terms of Use"  &amp; "Privacy Policy" Footer Links</a:t>
            </a:r>
          </a:p>
          <a:p>
            <a:r>
              <a:rPr lang="en-US" sz="1600" dirty="0">
                <a:latin typeface="Gill Sans Light"/>
              </a:rPr>
              <a:t>VP - Add attribute to prefill age on </a:t>
            </a:r>
            <a:r>
              <a:rPr lang="en-US" sz="1600" dirty="0" err="1">
                <a:latin typeface="Gill Sans Light"/>
              </a:rPr>
              <a:t>quoteboxes</a:t>
            </a:r>
            <a:r>
              <a:rPr lang="en-US" sz="1600" dirty="0">
                <a:latin typeface="Gill Sans Light"/>
              </a:rPr>
              <a:t> when we can guess the user's age</a:t>
            </a:r>
          </a:p>
          <a:p>
            <a:r>
              <a:rPr lang="en-US" sz="1600" dirty="0">
                <a:latin typeface="Gill Sans Light"/>
              </a:rPr>
              <a:t>VP - Fix Lint Errors on MR Creation</a:t>
            </a:r>
          </a:p>
        </p:txBody>
      </p:sp>
    </p:spTree>
    <p:extLst>
      <p:ext uri="{BB962C8B-B14F-4D97-AF65-F5344CB8AC3E}">
        <p14:creationId xmlns:p14="http://schemas.microsoft.com/office/powerpoint/2010/main" val="3434579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Skills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30AFF47-78AC-45C0-A1AA-2DAA028D4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3657" y="1262267"/>
            <a:ext cx="7890763" cy="4688271"/>
          </a:xfrm>
        </p:spPr>
        <p:txBody>
          <a:bodyPr>
            <a:normAutofit/>
          </a:bodyPr>
          <a:lstStyle/>
          <a:p>
            <a:pPr fontAlgn="ctr">
              <a:lnSpc>
                <a:spcPct val="110000"/>
              </a:lnSpc>
            </a:pPr>
            <a:r>
              <a:rPr lang="en-IN" sz="2000" dirty="0"/>
              <a:t>Resources Requirement – NA</a:t>
            </a:r>
          </a:p>
          <a:p>
            <a:pPr fontAlgn="ctr">
              <a:lnSpc>
                <a:spcPct val="110000"/>
              </a:lnSpc>
            </a:pPr>
            <a:r>
              <a:rPr lang="en-IN" sz="2000" dirty="0"/>
              <a:t>PHP 8</a:t>
            </a:r>
            <a:endParaRPr lang="en-IN" sz="1400" dirty="0"/>
          </a:p>
          <a:p>
            <a:r>
              <a:rPr lang="en-US" sz="2000" dirty="0" err="1"/>
              <a:t>Wordpress</a:t>
            </a:r>
            <a:endParaRPr lang="en-IN" sz="2000" dirty="0"/>
          </a:p>
          <a:p>
            <a:r>
              <a:rPr lang="en-US" sz="2000" dirty="0"/>
              <a:t>CSS3.</a:t>
            </a:r>
          </a:p>
          <a:p>
            <a:r>
              <a:rPr lang="en-US" sz="2000" dirty="0"/>
              <a:t>Bootstrap 4.1.6.</a:t>
            </a:r>
          </a:p>
          <a:p>
            <a:r>
              <a:rPr lang="en-US" sz="2000" dirty="0"/>
              <a:t>React </a:t>
            </a:r>
            <a:r>
              <a:rPr lang="en-US" sz="2000" dirty="0" err="1"/>
              <a:t>js,Node,Stencil</a:t>
            </a:r>
            <a:endParaRPr lang="en-IN" sz="2000" dirty="0"/>
          </a:p>
          <a:p>
            <a:pPr fontAlgn="ctr"/>
            <a:r>
              <a:rPr lang="en-IN" sz="2000" dirty="0"/>
              <a:t>Unit Testing frameworks.</a:t>
            </a:r>
          </a:p>
          <a:p>
            <a:pPr fontAlgn="ctr"/>
            <a:endParaRPr lang="en-IN" b="1" dirty="0"/>
          </a:p>
          <a:p>
            <a:pPr font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40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449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2 2014">
  <a:themeElements>
    <a:clrScheme name="V2 Theme">
      <a:dk1>
        <a:srgbClr val="494342"/>
      </a:dk1>
      <a:lt1>
        <a:sysClr val="window" lastClr="FFFFFF"/>
      </a:lt1>
      <a:dk2>
        <a:srgbClr val="2D81AF"/>
      </a:dk2>
      <a:lt2>
        <a:srgbClr val="F15A24"/>
      </a:lt2>
      <a:accent1>
        <a:srgbClr val="76B1CD"/>
      </a:accent1>
      <a:accent2>
        <a:srgbClr val="D87C43"/>
      </a:accent2>
      <a:accent3>
        <a:srgbClr val="8DA408"/>
      </a:accent3>
      <a:accent4>
        <a:srgbClr val="FBB03B"/>
      </a:accent4>
      <a:accent5>
        <a:srgbClr val="A952A5"/>
      </a:accent5>
      <a:accent6>
        <a:srgbClr val="9D9EA2"/>
      </a:accent6>
      <a:hlink>
        <a:srgbClr val="76B1CD"/>
      </a:hlink>
      <a:folHlink>
        <a:srgbClr val="F15A24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2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3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F51A07410DA4796335AE0E37182C8" ma:contentTypeVersion="12" ma:contentTypeDescription="Create a new document." ma:contentTypeScope="" ma:versionID="64df252ce93a8ed28fb488fc5f7aba86">
  <xsd:schema xmlns:xsd="http://www.w3.org/2001/XMLSchema" xmlns:xs="http://www.w3.org/2001/XMLSchema" xmlns:p="http://schemas.microsoft.com/office/2006/metadata/properties" xmlns:ns2="7dc618e8-2c3f-4647-bc5c-9f4e2915a0a5" xmlns:ns3="046518e7-0f18-407f-b97b-b4d4cfdf164f" targetNamespace="http://schemas.microsoft.com/office/2006/metadata/properties" ma:root="true" ma:fieldsID="020a30f465bdbd22ae8d670313e27faa" ns2:_="" ns3:_="">
    <xsd:import namespace="7dc618e8-2c3f-4647-bc5c-9f4e2915a0a5"/>
    <xsd:import namespace="046518e7-0f18-407f-b97b-b4d4cfdf164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618e8-2c3f-4647-bc5c-9f4e2915a0a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518e7-0f18-407f-b97b-b4d4cfdf16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046518e7-0f18-407f-b97b-b4d4cfdf164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D8CCC9-6743-4731-8BFD-1F1CAA310F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618e8-2c3f-4647-bc5c-9f4e2915a0a5"/>
    <ds:schemaRef ds:uri="046518e7-0f18-407f-b97b-b4d4cfdf16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5BFA2F-D574-42CC-996A-2038CEC6CAE3}">
  <ds:schemaRefs>
    <ds:schemaRef ds:uri="http://www.w3.org/XML/1998/namespace"/>
    <ds:schemaRef ds:uri="4a4c05dd-df60-40a2-8484-219aa1d78252"/>
    <ds:schemaRef ds:uri="http://purl.org/dc/dcmitype/"/>
    <ds:schemaRef ds:uri="http://schemas.microsoft.com/office/2006/metadata/properties"/>
    <ds:schemaRef ds:uri="b1190d85-c0e6-4344-a882-7b3839a01e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046518e7-0f18-407f-b97b-b4d4cfdf164f"/>
  </ds:schemaRefs>
</ds:datastoreItem>
</file>

<file path=customXml/itemProps3.xml><?xml version="1.0" encoding="utf-8"?>
<ds:datastoreItem xmlns:ds="http://schemas.openxmlformats.org/officeDocument/2006/customXml" ds:itemID="{8B8BF2C1-E786-4160-A75F-26F487C993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5962</TotalTime>
  <Words>686</Words>
  <Application>Microsoft Office PowerPoint</Application>
  <PresentationFormat>On-screen Show (4:3)</PresentationFormat>
  <Paragraphs>118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Atlassian Sans</vt:lpstr>
      <vt:lpstr>Century Gothic</vt:lpstr>
      <vt:lpstr>Courier New</vt:lpstr>
      <vt:lpstr>Gill Sans Light</vt:lpstr>
      <vt:lpstr>Helvetica Neue Light</vt:lpstr>
      <vt:lpstr>Wingdings</vt:lpstr>
      <vt:lpstr>V2 2014</vt:lpstr>
      <vt:lpstr>LT Consumer Website (SEOD)</vt:lpstr>
      <vt:lpstr>Agenda</vt:lpstr>
      <vt:lpstr>Goals Achieved in March</vt:lpstr>
      <vt:lpstr>Continue….</vt:lpstr>
      <vt:lpstr>Continue….</vt:lpstr>
      <vt:lpstr>Continue….</vt:lpstr>
      <vt:lpstr>In Progress Ticket</vt:lpstr>
      <vt:lpstr>Metrics &amp; Project Insights: </vt:lpstr>
      <vt:lpstr>Story Points</vt:lpstr>
      <vt:lpstr>Project Roadmap</vt:lpstr>
      <vt:lpstr>Resources and Skills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Hall</dc:creator>
  <dc:description>Doc. Ref. No.: V2/DOC/COM/012                   Rev. No.: 2                                 W.e.f : 3 Feb 2016</dc:description>
  <cp:lastModifiedBy>Himanshu Kothari</cp:lastModifiedBy>
  <cp:revision>324</cp:revision>
  <dcterms:created xsi:type="dcterms:W3CDTF">2014-09-05T18:58:01Z</dcterms:created>
  <dcterms:modified xsi:type="dcterms:W3CDTF">2026-04-04T07:50:24Z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0x010100C6BF51A07410DA4796335AE0E37182C8</vt:lpwstr>
  </property>
</Properties>
</file>